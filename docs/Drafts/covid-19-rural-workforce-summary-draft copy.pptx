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72" r:id="rId1"/>
  </p:sldMasterIdLst>
  <p:sldIdLst>
    <p:sldId id="256" r:id="rId2"/>
    <p:sldId id="257" r:id="rId3"/>
    <p:sldId id="259" r:id="rId4"/>
    <p:sldId id="261" r:id="rId5"/>
    <p:sldId id="262" r:id="rId6"/>
  </p:sldIdLst>
  <p:sldSz cx="7772400" cy="10058400"/>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324"/>
    <a:srgbClr val="4D8B19"/>
    <a:srgbClr val="000000"/>
    <a:srgbClr val="5CA81F"/>
    <a:srgbClr val="C7EF99"/>
    <a:srgbClr val="6AC400"/>
    <a:srgbClr val="90E033"/>
    <a:srgbClr val="C7EF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51" autoAdjust="0"/>
    <p:restoredTop sz="94660"/>
  </p:normalViewPr>
  <p:slideViewPr>
    <p:cSldViewPr snapToGrid="0">
      <p:cViewPr varScale="1">
        <p:scale>
          <a:sx n="87" d="100"/>
          <a:sy n="87" d="100"/>
        </p:scale>
        <p:origin x="23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3994753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2423743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9DB0B4-1DA6-4F54-B8B8-D86B0E4354AE}" type="datetimeFigureOut">
              <a:rPr lang="en-US" smtClean="0"/>
              <a:t>11/28/20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3791825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9DB0B4-1DA6-4F54-B8B8-D86B0E4354AE}" type="datetimeFigureOut">
              <a:rPr lang="en-US" smtClean="0"/>
              <a:t>11/28/20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2349215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9DB0B4-1DA6-4F54-B8B8-D86B0E4354AE}" type="datetimeFigureOut">
              <a:rPr lang="en-US" smtClean="0"/>
              <a:t>11/28/20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478229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9DB0B4-1DA6-4F54-B8B8-D86B0E4354AE}" type="datetimeFigureOut">
              <a:rPr lang="en-US" smtClean="0"/>
              <a:t>11/28/20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176693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9DB0B4-1DA6-4F54-B8B8-D86B0E4354AE}" type="datetimeFigureOut">
              <a:rPr lang="en-US" smtClean="0"/>
              <a:t>11/28/20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2800020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539DB0B4-1DA6-4F54-B8B8-D86B0E4354AE}" type="datetimeFigureOut">
              <a:rPr lang="en-US" smtClean="0"/>
              <a:t>11/28/20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304912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539DB0B4-1DA6-4F54-B8B8-D86B0E4354AE}" type="datetimeFigureOut">
              <a:rPr lang="en-US" smtClean="0"/>
              <a:t>11/28/20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43779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5502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1417913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539DB0B4-1DA6-4F54-B8B8-D86B0E4354AE}" type="datetimeFigureOut">
              <a:rPr lang="en-US" smtClean="0"/>
              <a:t>11/28/20</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9DBAD90F-33A5-414C-8CB3-8F20BD9B5F4C}" type="slidenum">
              <a:rPr lang="en-US" smtClean="0"/>
              <a:t>‹#›</a:t>
            </a:fld>
            <a:endParaRPr lang="en-US"/>
          </a:p>
        </p:txBody>
      </p:sp>
    </p:spTree>
    <p:extLst>
      <p:ext uri="{BB962C8B-B14F-4D97-AF65-F5344CB8AC3E}">
        <p14:creationId xmlns:p14="http://schemas.microsoft.com/office/powerpoint/2010/main" val="13044202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www.ruralmn.org/" TargetMode="External"/><Relationship Id="rId7" Type="http://schemas.openxmlformats.org/officeDocument/2006/relationships/image" Target="../media/image8.sv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9A9C95-6E86-436B-B6AB-B9C43D8DD3E9}"/>
              </a:ext>
            </a:extLst>
          </p:cNvPr>
          <p:cNvSpPr txBox="1"/>
          <p:nvPr/>
        </p:nvSpPr>
        <p:spPr>
          <a:xfrm>
            <a:off x="595559" y="1612916"/>
            <a:ext cx="6581275" cy="86177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p>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(Preliminary Findings)</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6CFF3C47-4EA1-4D60-8642-F03AD1AAFAC4}"/>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pic>
        <p:nvPicPr>
          <p:cNvPr id="5" name="Picture 4">
            <a:extLst>
              <a:ext uri="{FF2B5EF4-FFF2-40B4-BE49-F238E27FC236}">
                <a16:creationId xmlns:a16="http://schemas.microsoft.com/office/drawing/2014/main" id="{D2EB52EE-BDC8-4455-83F5-5D7985087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4" name="TextBox 3">
            <a:extLst>
              <a:ext uri="{FF2B5EF4-FFF2-40B4-BE49-F238E27FC236}">
                <a16:creationId xmlns:a16="http://schemas.microsoft.com/office/drawing/2014/main" id="{3B9C945B-C125-41CA-A1D8-92D8204E84FF}"/>
              </a:ext>
            </a:extLst>
          </p:cNvPr>
          <p:cNvSpPr txBox="1"/>
          <p:nvPr/>
        </p:nvSpPr>
        <p:spPr>
          <a:xfrm>
            <a:off x="1254208" y="9429284"/>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7" name="TextBox 56">
            <a:extLst>
              <a:ext uri="{FF2B5EF4-FFF2-40B4-BE49-F238E27FC236}">
                <a16:creationId xmlns:a16="http://schemas.microsoft.com/office/drawing/2014/main" id="{A3A9EDB5-E252-0E47-8DAB-4CB921DBDBAD}"/>
              </a:ext>
            </a:extLst>
          </p:cNvPr>
          <p:cNvSpPr txBox="1"/>
          <p:nvPr/>
        </p:nvSpPr>
        <p:spPr>
          <a:xfrm>
            <a:off x="5101782" y="5346379"/>
            <a:ext cx="2047853" cy="3600986"/>
          </a:xfrm>
          <a:prstGeom prst="rect">
            <a:avLst/>
          </a:prstGeom>
          <a:noFill/>
        </p:spPr>
        <p:txBody>
          <a:bodyPr wrap="square" rtlCol="0">
            <a:spAutoFit/>
          </a:bodyPr>
          <a:lstStyle/>
          <a:p>
            <a:r>
              <a:rPr lang="en-US" sz="1200" b="1" i="1"/>
              <a:t>Job vacancies down </a:t>
            </a:r>
            <a:r>
              <a:rPr lang="en-US" sz="1200" b="1" i="1" dirty="0"/>
              <a:t>but not gone.</a:t>
            </a:r>
          </a:p>
          <a:p>
            <a:endParaRPr lang="en-US" sz="1200" b="1" i="1" dirty="0"/>
          </a:p>
          <a:p>
            <a:r>
              <a:rPr lang="en-US" sz="1200" dirty="0"/>
              <a:t>Before the pandemic, finding workers was the number one priority for workforce development organizations in rural Minnesota, where the worker shortage was more acute compared to the Twin Cities area.</a:t>
            </a:r>
          </a:p>
          <a:p>
            <a:endParaRPr lang="en-US" sz="1200" dirty="0"/>
          </a:p>
          <a:p>
            <a:r>
              <a:rPr lang="en-US" sz="1200" dirty="0"/>
              <a:t>Not surprisingly, the job vacancy rate dropped during the pandemic. It is about 2 percentage points less compared to the average in 2019 but still highest in rural Minnesota.</a:t>
            </a:r>
          </a:p>
        </p:txBody>
      </p:sp>
      <p:sp>
        <p:nvSpPr>
          <p:cNvPr id="2" name="TextBox 1">
            <a:extLst>
              <a:ext uri="{FF2B5EF4-FFF2-40B4-BE49-F238E27FC236}">
                <a16:creationId xmlns:a16="http://schemas.microsoft.com/office/drawing/2014/main" id="{F50F3013-C813-3141-9398-AF60E560B849}"/>
              </a:ext>
            </a:extLst>
          </p:cNvPr>
          <p:cNvSpPr txBox="1"/>
          <p:nvPr/>
        </p:nvSpPr>
        <p:spPr>
          <a:xfrm>
            <a:off x="593380" y="2525722"/>
            <a:ext cx="6352629" cy="2308324"/>
          </a:xfrm>
          <a:prstGeom prst="rect">
            <a:avLst/>
          </a:prstGeom>
          <a:noFill/>
        </p:spPr>
        <p:txBody>
          <a:bodyPr wrap="square" rtlCol="0">
            <a:spAutoFit/>
          </a:bodyPr>
          <a:lstStyle/>
          <a:p>
            <a:r>
              <a:rPr lang="en-US" sz="1200" b="1" i="1" dirty="0"/>
              <a:t>An atypical recession requires atypical solutions.</a:t>
            </a:r>
          </a:p>
          <a:p>
            <a:endParaRPr lang="en-US" sz="1200" dirty="0"/>
          </a:p>
          <a:p>
            <a:r>
              <a:rPr lang="en-US" sz="1200" dirty="0"/>
              <a:t>As most labor analysts know, this isn’t a typical “recession” where a large number of unemployed face few job opportunities. Before the pandemic, rural Minnesota was already facing a significant shortage of workers in many occupations. The pandemic’s impact has been unique in that it has hit a few occupations particularly hard while bolstering other industries and occupations. The result is that despite the high number of unemployment claims, many industries are still searching for workers. </a:t>
            </a:r>
          </a:p>
          <a:p>
            <a:endParaRPr lang="en-US" sz="1200" dirty="0"/>
          </a:p>
          <a:p>
            <a:r>
              <a:rPr lang="en-US" sz="1200" dirty="0"/>
              <a:t>Therefore, state’s approach to dealing with the impacts of the pandemic on the workforce is not only about taking care of our unemployed workers but also finding creative and strategic ways to engage unemployed workers to match them with existing employment opportunities.</a:t>
            </a:r>
          </a:p>
        </p:txBody>
      </p:sp>
      <p:pic>
        <p:nvPicPr>
          <p:cNvPr id="12" name="Picture 11">
            <a:extLst>
              <a:ext uri="{FF2B5EF4-FFF2-40B4-BE49-F238E27FC236}">
                <a16:creationId xmlns:a16="http://schemas.microsoft.com/office/drawing/2014/main" id="{6D974E91-0C3E-784F-8584-A51EE0344E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619" y="5158149"/>
            <a:ext cx="4572000" cy="4114800"/>
          </a:xfrm>
          <a:prstGeom prst="rect">
            <a:avLst/>
          </a:prstGeom>
        </p:spPr>
      </p:pic>
    </p:spTree>
    <p:extLst>
      <p:ext uri="{BB962C8B-B14F-4D97-AF65-F5344CB8AC3E}">
        <p14:creationId xmlns:p14="http://schemas.microsoft.com/office/powerpoint/2010/main" val="395302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62" y="1510268"/>
            <a:ext cx="6581275" cy="86177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p>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(Preliminary Findings)</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pic>
        <p:nvPicPr>
          <p:cNvPr id="7" name="Picture 6">
            <a:extLst>
              <a:ext uri="{FF2B5EF4-FFF2-40B4-BE49-F238E27FC236}">
                <a16:creationId xmlns:a16="http://schemas.microsoft.com/office/drawing/2014/main" id="{D77B46A5-36AB-0343-9F85-4372315FEA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5" y="2454592"/>
            <a:ext cx="5943600" cy="3657600"/>
          </a:xfrm>
          <a:prstGeom prst="rect">
            <a:avLst/>
          </a:prstGeom>
        </p:spPr>
      </p:pic>
      <p:sp>
        <p:nvSpPr>
          <p:cNvPr id="8" name="TextBox 7">
            <a:extLst>
              <a:ext uri="{FF2B5EF4-FFF2-40B4-BE49-F238E27FC236}">
                <a16:creationId xmlns:a16="http://schemas.microsoft.com/office/drawing/2014/main" id="{95916FD0-C4A3-344A-891C-E1071D7D8BBE}"/>
              </a:ext>
            </a:extLst>
          </p:cNvPr>
          <p:cNvSpPr txBox="1"/>
          <p:nvPr/>
        </p:nvSpPr>
        <p:spPr>
          <a:xfrm>
            <a:off x="914395" y="6322700"/>
            <a:ext cx="6262438" cy="2862322"/>
          </a:xfrm>
          <a:prstGeom prst="rect">
            <a:avLst/>
          </a:prstGeom>
          <a:noFill/>
        </p:spPr>
        <p:txBody>
          <a:bodyPr wrap="square" rtlCol="0">
            <a:spAutoFit/>
          </a:bodyPr>
          <a:lstStyle/>
          <a:p>
            <a:r>
              <a:rPr lang="en-US" sz="1200" b="1" i="1" dirty="0"/>
              <a:t>Across the state, job postings are equaling a larger share of unemployment claims.</a:t>
            </a:r>
          </a:p>
          <a:p>
            <a:endParaRPr lang="en-US" sz="1200" b="1" i="1" dirty="0"/>
          </a:p>
          <a:p>
            <a:r>
              <a:rPr lang="en-US" sz="1200" dirty="0"/>
              <a:t>The number of weekly unique job postings as a percentage of weekly continuous unemployment claims compares the speed at which jobs are becoming available against the number of workers claiming unemployment. Since September, weekly job postings have continued to grow as a share of unemployment claims, with most regions outside of the Twin Cities metro at a higher percentage. In fact, in Southwest Minnesota there were more weekly job postings than continuous unemployment claims by the end of October.</a:t>
            </a:r>
          </a:p>
          <a:p>
            <a:endParaRPr lang="en-US" sz="1200" dirty="0"/>
          </a:p>
          <a:p>
            <a:r>
              <a:rPr lang="en-US" sz="1200" dirty="0"/>
              <a:t>However, not every unemployed person can simply take any job available. Training and experience is needed for many employment opportunities in our regions. Therefore, it’s important to assess in which occupations there are job opportunities and the labor pool that exists in that occupation. And interviews with our Workforce Development Boards in Greater Minnesota have indicated an interesting situation where they are dealing with exactly this issue. The occupation of our unemployed individuals don’t exactly match with the job opportunities available.</a:t>
            </a:r>
          </a:p>
        </p:txBody>
      </p:sp>
    </p:spTree>
    <p:extLst>
      <p:ext uri="{BB962C8B-B14F-4D97-AF65-F5344CB8AC3E}">
        <p14:creationId xmlns:p14="http://schemas.microsoft.com/office/powerpoint/2010/main" val="156210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59" y="1518579"/>
            <a:ext cx="6581275" cy="86177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p>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(Preliminary Findings)</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A56BA58B-5844-0842-88D2-43D223605E19}"/>
              </a:ext>
            </a:extLst>
          </p:cNvPr>
          <p:cNvSpPr txBox="1"/>
          <p:nvPr/>
        </p:nvSpPr>
        <p:spPr>
          <a:xfrm>
            <a:off x="595559" y="2340809"/>
            <a:ext cx="6581275" cy="2308324"/>
          </a:xfrm>
          <a:prstGeom prst="rect">
            <a:avLst/>
          </a:prstGeom>
          <a:noFill/>
        </p:spPr>
        <p:txBody>
          <a:bodyPr wrap="square" rtlCol="0">
            <a:spAutoFit/>
          </a:bodyPr>
          <a:lstStyle/>
          <a:p>
            <a:r>
              <a:rPr lang="en-US" sz="1200" b="1" i="1" dirty="0"/>
              <a:t>Despite the number of unemployment claims, worker shortages remain in many occupations and most regions of the state.</a:t>
            </a:r>
          </a:p>
          <a:p>
            <a:endParaRPr lang="en-US" sz="1200" b="1" i="1" dirty="0"/>
          </a:p>
          <a:p>
            <a:r>
              <a:rPr lang="en-US" sz="1200" dirty="0"/>
              <a:t>In Northern Minnesota one of the highest number of job postings is in food preparation and serving-related occupations, but it also has one of the highest rates of people filing continuous unemployment claims, indicating that there is a ready labor pool within that category. </a:t>
            </a:r>
          </a:p>
          <a:p>
            <a:endParaRPr lang="en-US" sz="1200" dirty="0"/>
          </a:p>
          <a:p>
            <a:r>
              <a:rPr lang="en-US" sz="1200" dirty="0"/>
              <a:t>The number of occupation categories (out of 23 total) with </a:t>
            </a:r>
            <a:r>
              <a:rPr lang="en-US" sz="1200" i="1" dirty="0"/>
              <a:t>more job postings </a:t>
            </a:r>
            <a:r>
              <a:rPr lang="en-US" sz="1200" dirty="0"/>
              <a:t>than people filing continuous unemployment claims has been growing since September (see chart below). The Southwest and Southeast regions show the largest increases in categories with worker shortages, while the Twin Cities and Central Minnesota regions have the lowest number of occupations experiencing workforce shortages.</a:t>
            </a:r>
          </a:p>
        </p:txBody>
      </p:sp>
      <p:pic>
        <p:nvPicPr>
          <p:cNvPr id="12" name="Picture 11">
            <a:extLst>
              <a:ext uri="{FF2B5EF4-FFF2-40B4-BE49-F238E27FC236}">
                <a16:creationId xmlns:a16="http://schemas.microsoft.com/office/drawing/2014/main" id="{B38F6907-EF96-FD47-8046-5200FBADF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5" y="4883596"/>
            <a:ext cx="5943600" cy="4572000"/>
          </a:xfrm>
          <a:prstGeom prst="rect">
            <a:avLst/>
          </a:prstGeom>
        </p:spPr>
      </p:pic>
    </p:spTree>
    <p:extLst>
      <p:ext uri="{BB962C8B-B14F-4D97-AF65-F5344CB8AC3E}">
        <p14:creationId xmlns:p14="http://schemas.microsoft.com/office/powerpoint/2010/main" val="1171362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57" y="1622428"/>
            <a:ext cx="6581275" cy="86177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p>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(Preliminary Findings)</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A56BA58B-5844-0842-88D2-43D223605E19}"/>
              </a:ext>
            </a:extLst>
          </p:cNvPr>
          <p:cNvSpPr txBox="1"/>
          <p:nvPr/>
        </p:nvSpPr>
        <p:spPr>
          <a:xfrm>
            <a:off x="595559" y="2522648"/>
            <a:ext cx="6581275" cy="1200329"/>
          </a:xfrm>
          <a:prstGeom prst="rect">
            <a:avLst/>
          </a:prstGeom>
          <a:noFill/>
        </p:spPr>
        <p:txBody>
          <a:bodyPr wrap="square" rtlCol="0">
            <a:spAutoFit/>
          </a:bodyPr>
          <a:lstStyle/>
          <a:p>
            <a:r>
              <a:rPr lang="en-US" sz="1200" b="1" i="1" dirty="0"/>
              <a:t>A skills mismatch exists between jobs needing workers and workers needing jobs.</a:t>
            </a:r>
            <a:endParaRPr lang="en-US" sz="1200" dirty="0"/>
          </a:p>
          <a:p>
            <a:endParaRPr lang="en-US" sz="1200" dirty="0"/>
          </a:p>
          <a:p>
            <a:r>
              <a:rPr lang="en-US" sz="1200" dirty="0"/>
              <a:t>Across all of Minnesota, the healthcare practitioners and technical occupations category was in the top five labor force shortage occupations in every Economic Development Region in the state.  Beyond that, however, there was significant nuance among occupation categories experiencing labor force shortages throughout Greater Minnesota.</a:t>
            </a:r>
          </a:p>
        </p:txBody>
      </p:sp>
      <p:pic>
        <p:nvPicPr>
          <p:cNvPr id="3" name="Graphic 2" descr="Truck">
            <a:extLst>
              <a:ext uri="{FF2B5EF4-FFF2-40B4-BE49-F238E27FC236}">
                <a16:creationId xmlns:a16="http://schemas.microsoft.com/office/drawing/2014/main" id="{82849665-B3DC-EE4B-B7B0-0752DBA42D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7006" y="3793037"/>
            <a:ext cx="914400" cy="914400"/>
          </a:xfrm>
          <a:prstGeom prst="rect">
            <a:avLst/>
          </a:prstGeom>
        </p:spPr>
      </p:pic>
      <p:sp>
        <p:nvSpPr>
          <p:cNvPr id="4" name="TextBox 3">
            <a:extLst>
              <a:ext uri="{FF2B5EF4-FFF2-40B4-BE49-F238E27FC236}">
                <a16:creationId xmlns:a16="http://schemas.microsoft.com/office/drawing/2014/main" id="{2C923F8E-3D72-1646-96C5-8F002E6EC903}"/>
              </a:ext>
            </a:extLst>
          </p:cNvPr>
          <p:cNvSpPr txBox="1"/>
          <p:nvPr/>
        </p:nvSpPr>
        <p:spPr>
          <a:xfrm>
            <a:off x="1885950" y="3927071"/>
            <a:ext cx="5290884" cy="646331"/>
          </a:xfrm>
          <a:prstGeom prst="rect">
            <a:avLst/>
          </a:prstGeom>
          <a:noFill/>
        </p:spPr>
        <p:txBody>
          <a:bodyPr wrap="square" rtlCol="0">
            <a:spAutoFit/>
          </a:bodyPr>
          <a:lstStyle/>
          <a:p>
            <a:r>
              <a:rPr lang="en-US" sz="1200" b="1" dirty="0"/>
              <a:t>Transportation and material moving</a:t>
            </a:r>
            <a:r>
              <a:rPr lang="en-US" sz="1200" dirty="0"/>
              <a:t>: Shortages in this occupation were particularly prevalent in the western side of Minnesota such as Northwest and Southwest planning regions.</a:t>
            </a:r>
          </a:p>
        </p:txBody>
      </p:sp>
      <p:pic>
        <p:nvPicPr>
          <p:cNvPr id="14" name="Graphic 13" descr="Production">
            <a:extLst>
              <a:ext uri="{FF2B5EF4-FFF2-40B4-BE49-F238E27FC236}">
                <a16:creationId xmlns:a16="http://schemas.microsoft.com/office/drawing/2014/main" id="{18E4146E-8B03-DB47-A92E-ABBA4B6B839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97006" y="4612541"/>
            <a:ext cx="914400" cy="914400"/>
          </a:xfrm>
          <a:prstGeom prst="rect">
            <a:avLst/>
          </a:prstGeom>
        </p:spPr>
      </p:pic>
      <p:sp>
        <p:nvSpPr>
          <p:cNvPr id="15" name="TextBox 14">
            <a:extLst>
              <a:ext uri="{FF2B5EF4-FFF2-40B4-BE49-F238E27FC236}">
                <a16:creationId xmlns:a16="http://schemas.microsoft.com/office/drawing/2014/main" id="{39C012F4-8F36-A14B-B09C-F5398ABFE6CE}"/>
              </a:ext>
            </a:extLst>
          </p:cNvPr>
          <p:cNvSpPr txBox="1"/>
          <p:nvPr/>
        </p:nvSpPr>
        <p:spPr>
          <a:xfrm>
            <a:off x="1885950" y="4838908"/>
            <a:ext cx="5290884" cy="461665"/>
          </a:xfrm>
          <a:prstGeom prst="rect">
            <a:avLst/>
          </a:prstGeom>
          <a:noFill/>
        </p:spPr>
        <p:txBody>
          <a:bodyPr wrap="square" rtlCol="0">
            <a:spAutoFit/>
          </a:bodyPr>
          <a:lstStyle/>
          <a:p>
            <a:r>
              <a:rPr lang="en-US" sz="1200" b="1" dirty="0"/>
              <a:t>Production</a:t>
            </a:r>
            <a:r>
              <a:rPr lang="en-US" sz="1200" dirty="0"/>
              <a:t>: Some of the largest workforce shortages have been in production occupations (manufacturing), particularly in Northwest and Southwest Minnesota.</a:t>
            </a:r>
          </a:p>
        </p:txBody>
      </p:sp>
      <p:sp>
        <p:nvSpPr>
          <p:cNvPr id="17" name="TextBox 16">
            <a:extLst>
              <a:ext uri="{FF2B5EF4-FFF2-40B4-BE49-F238E27FC236}">
                <a16:creationId xmlns:a16="http://schemas.microsoft.com/office/drawing/2014/main" id="{7416B081-84C0-8841-914F-2C736D20624D}"/>
              </a:ext>
            </a:extLst>
          </p:cNvPr>
          <p:cNvSpPr txBox="1"/>
          <p:nvPr/>
        </p:nvSpPr>
        <p:spPr>
          <a:xfrm>
            <a:off x="1885950" y="5753308"/>
            <a:ext cx="5290884" cy="461665"/>
          </a:xfrm>
          <a:prstGeom prst="rect">
            <a:avLst/>
          </a:prstGeom>
          <a:noFill/>
        </p:spPr>
        <p:txBody>
          <a:bodyPr wrap="square" rtlCol="0">
            <a:spAutoFit/>
          </a:bodyPr>
          <a:lstStyle/>
          <a:p>
            <a:r>
              <a:rPr lang="en-US" sz="1200" b="1" dirty="0"/>
              <a:t>Community and social services</a:t>
            </a:r>
            <a:r>
              <a:rPr lang="en-US" sz="1200" dirty="0"/>
              <a:t>: Shortages in this occupation were particularly large in Central Minnesota.</a:t>
            </a:r>
          </a:p>
        </p:txBody>
      </p:sp>
      <p:pic>
        <p:nvPicPr>
          <p:cNvPr id="6" name="Graphic 5" descr="Cycle with people">
            <a:extLst>
              <a:ext uri="{FF2B5EF4-FFF2-40B4-BE49-F238E27FC236}">
                <a16:creationId xmlns:a16="http://schemas.microsoft.com/office/drawing/2014/main" id="{5A41F28E-9BA3-5F42-85FA-CF43E1AFCD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7006" y="5526941"/>
            <a:ext cx="914400" cy="914400"/>
          </a:xfrm>
          <a:prstGeom prst="rect">
            <a:avLst/>
          </a:prstGeom>
        </p:spPr>
      </p:pic>
      <p:sp>
        <p:nvSpPr>
          <p:cNvPr id="18" name="TextBox 17">
            <a:extLst>
              <a:ext uri="{FF2B5EF4-FFF2-40B4-BE49-F238E27FC236}">
                <a16:creationId xmlns:a16="http://schemas.microsoft.com/office/drawing/2014/main" id="{98FC1B46-C8A8-CF47-BF07-D3B9BCD96B8D}"/>
              </a:ext>
            </a:extLst>
          </p:cNvPr>
          <p:cNvSpPr txBox="1"/>
          <p:nvPr/>
        </p:nvSpPr>
        <p:spPr>
          <a:xfrm>
            <a:off x="1885950" y="6677097"/>
            <a:ext cx="5290884" cy="461665"/>
          </a:xfrm>
          <a:prstGeom prst="rect">
            <a:avLst/>
          </a:prstGeom>
          <a:noFill/>
        </p:spPr>
        <p:txBody>
          <a:bodyPr wrap="square" rtlCol="0">
            <a:spAutoFit/>
          </a:bodyPr>
          <a:lstStyle/>
          <a:p>
            <a:r>
              <a:rPr lang="en-US" sz="1200" b="1" dirty="0"/>
              <a:t>Farming, fishing and forestry</a:t>
            </a:r>
            <a:r>
              <a:rPr lang="en-US" sz="1200" dirty="0"/>
              <a:t>: Shortages in this occupation were particularly large in Southern Minnesota.</a:t>
            </a:r>
          </a:p>
        </p:txBody>
      </p:sp>
      <p:pic>
        <p:nvPicPr>
          <p:cNvPr id="19" name="Graphic 18" descr="Tractor">
            <a:extLst>
              <a:ext uri="{FF2B5EF4-FFF2-40B4-BE49-F238E27FC236}">
                <a16:creationId xmlns:a16="http://schemas.microsoft.com/office/drawing/2014/main" id="{F25E5D48-0BA5-2D4E-9375-558D453B4B5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797006" y="6450730"/>
            <a:ext cx="914400" cy="914400"/>
          </a:xfrm>
          <a:prstGeom prst="rect">
            <a:avLst/>
          </a:prstGeom>
        </p:spPr>
      </p:pic>
      <p:sp>
        <p:nvSpPr>
          <p:cNvPr id="20" name="TextBox 19">
            <a:extLst>
              <a:ext uri="{FF2B5EF4-FFF2-40B4-BE49-F238E27FC236}">
                <a16:creationId xmlns:a16="http://schemas.microsoft.com/office/drawing/2014/main" id="{D4768A98-5015-2D4B-A175-656203EC8E2D}"/>
              </a:ext>
            </a:extLst>
          </p:cNvPr>
          <p:cNvSpPr txBox="1"/>
          <p:nvPr/>
        </p:nvSpPr>
        <p:spPr>
          <a:xfrm>
            <a:off x="797006" y="7374519"/>
            <a:ext cx="6379828" cy="1938992"/>
          </a:xfrm>
          <a:prstGeom prst="rect">
            <a:avLst/>
          </a:prstGeom>
          <a:noFill/>
        </p:spPr>
        <p:txBody>
          <a:bodyPr wrap="square" rtlCol="0">
            <a:spAutoFit/>
          </a:bodyPr>
          <a:lstStyle/>
          <a:p>
            <a:r>
              <a:rPr lang="en-US" sz="1200" b="1" dirty="0"/>
              <a:t>Other occupations: </a:t>
            </a:r>
            <a:r>
              <a:rPr lang="en-US" sz="1200" dirty="0"/>
              <a:t>When breaking it down by EDR, there was a significant amount of variation in which occupations were facing workforce shortages. Other occupations include computer and mathematical, architecture, legal, and other more professional occupations.</a:t>
            </a:r>
          </a:p>
          <a:p>
            <a:endParaRPr lang="en-US" sz="1200" dirty="0"/>
          </a:p>
          <a:p>
            <a:r>
              <a:rPr lang="en-US" sz="1200" dirty="0"/>
              <a:t>What this analysis tells us is that this isn’t a typical “recession” with a large number of unemployed with very few job opportunities. The pandemic has been unique in that it has hit a few occupations particularly hard while bolstering other industries and occupations. The state’s approach to dealing with the impacts of the pandemic on the workforce is not only about taking care of our unemployed workers but also finding creative and strategic ways to engage unemployed workers and matching the with other employment opportunities in rural Minnesota.</a:t>
            </a:r>
          </a:p>
        </p:txBody>
      </p:sp>
    </p:spTree>
    <p:extLst>
      <p:ext uri="{BB962C8B-B14F-4D97-AF65-F5344CB8AC3E}">
        <p14:creationId xmlns:p14="http://schemas.microsoft.com/office/powerpoint/2010/main" val="3951578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59" y="1702628"/>
            <a:ext cx="6581275" cy="86177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p>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(Preliminary Findings)</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A56BA58B-5844-0842-88D2-43D223605E19}"/>
              </a:ext>
            </a:extLst>
          </p:cNvPr>
          <p:cNvSpPr txBox="1"/>
          <p:nvPr/>
        </p:nvSpPr>
        <p:spPr>
          <a:xfrm>
            <a:off x="595559" y="2522648"/>
            <a:ext cx="6581275" cy="1754326"/>
          </a:xfrm>
          <a:prstGeom prst="rect">
            <a:avLst/>
          </a:prstGeom>
          <a:noFill/>
        </p:spPr>
        <p:txBody>
          <a:bodyPr wrap="square" rtlCol="0">
            <a:spAutoFit/>
          </a:bodyPr>
          <a:lstStyle/>
          <a:p>
            <a:r>
              <a:rPr lang="en-US" sz="1200" b="1" i="1" dirty="0"/>
              <a:t>A special thanks</a:t>
            </a:r>
          </a:p>
          <a:p>
            <a:endParaRPr lang="en-US" sz="1200" b="1" i="1" dirty="0"/>
          </a:p>
          <a:p>
            <a:r>
              <a:rPr lang="en-US" sz="1200" dirty="0"/>
              <a:t>This analysis and interpretation would not be possible without the partnership and collaboration with the Minnesota Department of Employment and Economic Development. A special thanks is provided to;</a:t>
            </a:r>
          </a:p>
          <a:p>
            <a:endParaRPr lang="en-US" sz="1200" dirty="0"/>
          </a:p>
          <a:p>
            <a:pPr marL="171450" indent="-171450">
              <a:buFont typeface="Arial" panose="020B0604020202020204" pitchFamily="34" charset="0"/>
              <a:buChar char="•"/>
            </a:pPr>
            <a:r>
              <a:rPr lang="en-US" sz="1200" dirty="0"/>
              <a:t>Cameron </a:t>
            </a:r>
            <a:r>
              <a:rPr lang="en-US" sz="1200" dirty="0" err="1"/>
              <a:t>Macht</a:t>
            </a:r>
            <a:r>
              <a:rPr lang="en-US" sz="1200" dirty="0"/>
              <a:t>, Assistant Director of the Labor Market Information Office</a:t>
            </a:r>
          </a:p>
          <a:p>
            <a:pPr marL="171450" indent="-171450">
              <a:buFont typeface="Arial" panose="020B0604020202020204" pitchFamily="34" charset="0"/>
              <a:buChar char="•"/>
            </a:pPr>
            <a:r>
              <a:rPr lang="en-US" sz="1200" dirty="0"/>
              <a:t>Luke </a:t>
            </a:r>
            <a:r>
              <a:rPr lang="en-US" sz="1200" dirty="0" err="1"/>
              <a:t>Griener</a:t>
            </a:r>
            <a:r>
              <a:rPr lang="en-US" sz="1200" dirty="0"/>
              <a:t>, Regional Analyst for Central and SW Minnesota</a:t>
            </a:r>
          </a:p>
          <a:p>
            <a:pPr marL="171450" indent="-171450">
              <a:buFont typeface="Arial" panose="020B0604020202020204" pitchFamily="34" charset="0"/>
              <a:buChar char="•"/>
            </a:pPr>
            <a:r>
              <a:rPr lang="en-US" sz="1200" dirty="0"/>
              <a:t>James Spector-Bishop, Research Analyst</a:t>
            </a:r>
          </a:p>
        </p:txBody>
      </p:sp>
    </p:spTree>
    <p:extLst>
      <p:ext uri="{BB962C8B-B14F-4D97-AF65-F5344CB8AC3E}">
        <p14:creationId xmlns:p14="http://schemas.microsoft.com/office/powerpoint/2010/main" val="29823349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49685</TotalTime>
  <Words>1087</Words>
  <Application>Microsoft Macintosh PowerPoint</Application>
  <PresentationFormat>Custom</PresentationFormat>
  <Paragraphs>72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Helvetica Neue</vt:lpstr>
      <vt:lpstr>Helvetica Neue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Kelly Asche</dc:creator>
  <cp:lastModifiedBy>kasche@crpd.onmicrosoft.com</cp:lastModifiedBy>
  <cp:revision>264</cp:revision>
  <cp:lastPrinted>2020-04-10T18:11:11Z</cp:lastPrinted>
  <dcterms:created xsi:type="dcterms:W3CDTF">2018-01-25T21:03:45Z</dcterms:created>
  <dcterms:modified xsi:type="dcterms:W3CDTF">2020-11-28T20:40:47Z</dcterms:modified>
</cp:coreProperties>
</file>