
<file path=[Content_Types].xml><?xml version="1.0" encoding="utf-8"?>
<Types xmlns="http://schemas.openxmlformats.org/package/2006/content-types">
  <Default Extension="emf" ContentType="image/x-emf"/>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5">
  <p:sldMasterIdLst>
    <p:sldMasterId id="2147483672" r:id="rId1"/>
  </p:sldMasterIdLst>
  <p:sldIdLst>
    <p:sldId id="256" r:id="rId2"/>
    <p:sldId id="257" r:id="rId3"/>
    <p:sldId id="259" r:id="rId4"/>
    <p:sldId id="261" r:id="rId5"/>
  </p:sldIdLst>
  <p:sldSz cx="7772400" cy="10058400"/>
  <p:notesSz cx="7102475" cy="9388475"/>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76324"/>
    <a:srgbClr val="4D8B19"/>
    <a:srgbClr val="000000"/>
    <a:srgbClr val="5CA81F"/>
    <a:srgbClr val="C7EF99"/>
    <a:srgbClr val="6AC400"/>
    <a:srgbClr val="90E033"/>
    <a:srgbClr val="C7EF3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954" autoAdjust="0"/>
    <p:restoredTop sz="94660"/>
  </p:normalViewPr>
  <p:slideViewPr>
    <p:cSldViewPr snapToGrid="0">
      <p:cViewPr varScale="1">
        <p:scale>
          <a:sx n="112" d="100"/>
          <a:sy n="112" d="100"/>
        </p:scale>
        <p:origin x="2368"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82930" y="1646133"/>
            <a:ext cx="6606540" cy="3501813"/>
          </a:xfrm>
        </p:spPr>
        <p:txBody>
          <a:bodyPr anchor="b"/>
          <a:lstStyle>
            <a:lvl1pPr algn="ctr">
              <a:defRPr sz="5100"/>
            </a:lvl1pPr>
          </a:lstStyle>
          <a:p>
            <a:r>
              <a:rPr lang="en-US"/>
              <a:t>Click to edit Master title style</a:t>
            </a:r>
            <a:endParaRPr lang="en-US" dirty="0"/>
          </a:p>
        </p:txBody>
      </p:sp>
      <p:sp>
        <p:nvSpPr>
          <p:cNvPr id="3" name="Subtitle 2"/>
          <p:cNvSpPr>
            <a:spLocks noGrp="1"/>
          </p:cNvSpPr>
          <p:nvPr>
            <p:ph type="subTitle" idx="1"/>
          </p:nvPr>
        </p:nvSpPr>
        <p:spPr>
          <a:xfrm>
            <a:off x="971550" y="5282989"/>
            <a:ext cx="5829300" cy="2428451"/>
          </a:xfrm>
        </p:spPr>
        <p:txBody>
          <a:bodyPr/>
          <a:lstStyle>
            <a:lvl1pPr marL="0" indent="0" algn="ctr">
              <a:buNone/>
              <a:defRPr sz="2040"/>
            </a:lvl1pPr>
            <a:lvl2pPr marL="388620" indent="0" algn="ctr">
              <a:buNone/>
              <a:defRPr sz="1700"/>
            </a:lvl2pPr>
            <a:lvl3pPr marL="777240" indent="0" algn="ctr">
              <a:buNone/>
              <a:defRPr sz="1530"/>
            </a:lvl3pPr>
            <a:lvl4pPr marL="1165860" indent="0" algn="ctr">
              <a:buNone/>
              <a:defRPr sz="1360"/>
            </a:lvl4pPr>
            <a:lvl5pPr marL="1554480" indent="0" algn="ctr">
              <a:buNone/>
              <a:defRPr sz="1360"/>
            </a:lvl5pPr>
            <a:lvl6pPr marL="1943100" indent="0" algn="ctr">
              <a:buNone/>
              <a:defRPr sz="1360"/>
            </a:lvl6pPr>
            <a:lvl7pPr marL="2331720" indent="0" algn="ctr">
              <a:buNone/>
              <a:defRPr sz="1360"/>
            </a:lvl7pPr>
            <a:lvl8pPr marL="2720340" indent="0" algn="ctr">
              <a:buNone/>
              <a:defRPr sz="1360"/>
            </a:lvl8pPr>
            <a:lvl9pPr marL="3108960" indent="0" algn="ctr">
              <a:buNone/>
              <a:defRPr sz="136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39DB0B4-1DA6-4F54-B8B8-D86B0E4354AE}" type="datetimeFigureOut">
              <a:rPr lang="en-US" smtClean="0"/>
              <a:t>11/24/20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DBAD90F-33A5-414C-8CB3-8F20BD9B5F4C}" type="slidenum">
              <a:rPr lang="en-US" smtClean="0"/>
              <a:t>‹#›</a:t>
            </a:fld>
            <a:endParaRPr lang="en-US"/>
          </a:p>
        </p:txBody>
      </p:sp>
    </p:spTree>
    <p:extLst>
      <p:ext uri="{BB962C8B-B14F-4D97-AF65-F5344CB8AC3E}">
        <p14:creationId xmlns:p14="http://schemas.microsoft.com/office/powerpoint/2010/main" val="39947534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39DB0B4-1DA6-4F54-B8B8-D86B0E4354AE}" type="datetimeFigureOut">
              <a:rPr lang="en-US" smtClean="0"/>
              <a:t>11/24/20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DBAD90F-33A5-414C-8CB3-8F20BD9B5F4C}" type="slidenum">
              <a:rPr lang="en-US" smtClean="0"/>
              <a:t>‹#›</a:t>
            </a:fld>
            <a:endParaRPr lang="en-US"/>
          </a:p>
        </p:txBody>
      </p:sp>
    </p:spTree>
    <p:extLst>
      <p:ext uri="{BB962C8B-B14F-4D97-AF65-F5344CB8AC3E}">
        <p14:creationId xmlns:p14="http://schemas.microsoft.com/office/powerpoint/2010/main" val="24237433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30305" y="2507618"/>
            <a:ext cx="6703695" cy="4184014"/>
          </a:xfrm>
        </p:spPr>
        <p:txBody>
          <a:bodyPr anchor="b"/>
          <a:lstStyle>
            <a:lvl1pPr>
              <a:defRPr sz="5100"/>
            </a:lvl1pPr>
          </a:lstStyle>
          <a:p>
            <a:r>
              <a:rPr lang="en-US"/>
              <a:t>Click to edit Master title style</a:t>
            </a:r>
            <a:endParaRPr lang="en-US" dirty="0"/>
          </a:p>
        </p:txBody>
      </p:sp>
      <p:sp>
        <p:nvSpPr>
          <p:cNvPr id="3" name="Text Placeholder 2"/>
          <p:cNvSpPr>
            <a:spLocks noGrp="1"/>
          </p:cNvSpPr>
          <p:nvPr>
            <p:ph type="body" idx="1"/>
          </p:nvPr>
        </p:nvSpPr>
        <p:spPr>
          <a:xfrm>
            <a:off x="530305" y="6731215"/>
            <a:ext cx="6703695" cy="2200274"/>
          </a:xfrm>
        </p:spPr>
        <p:txBody>
          <a:bodyPr/>
          <a:lstStyle>
            <a:lvl1pPr marL="0" indent="0">
              <a:buNone/>
              <a:defRPr sz="2040">
                <a:solidFill>
                  <a:schemeClr val="tx1"/>
                </a:solidFill>
              </a:defRPr>
            </a:lvl1pPr>
            <a:lvl2pPr marL="388620" indent="0">
              <a:buNone/>
              <a:defRPr sz="1700">
                <a:solidFill>
                  <a:schemeClr val="tx1">
                    <a:tint val="75000"/>
                  </a:schemeClr>
                </a:solidFill>
              </a:defRPr>
            </a:lvl2pPr>
            <a:lvl3pPr marL="777240" indent="0">
              <a:buNone/>
              <a:defRPr sz="1530">
                <a:solidFill>
                  <a:schemeClr val="tx1">
                    <a:tint val="75000"/>
                  </a:schemeClr>
                </a:solidFill>
              </a:defRPr>
            </a:lvl3pPr>
            <a:lvl4pPr marL="1165860" indent="0">
              <a:buNone/>
              <a:defRPr sz="1360">
                <a:solidFill>
                  <a:schemeClr val="tx1">
                    <a:tint val="75000"/>
                  </a:schemeClr>
                </a:solidFill>
              </a:defRPr>
            </a:lvl4pPr>
            <a:lvl5pPr marL="1554480" indent="0">
              <a:buNone/>
              <a:defRPr sz="1360">
                <a:solidFill>
                  <a:schemeClr val="tx1">
                    <a:tint val="75000"/>
                  </a:schemeClr>
                </a:solidFill>
              </a:defRPr>
            </a:lvl5pPr>
            <a:lvl6pPr marL="1943100" indent="0">
              <a:buNone/>
              <a:defRPr sz="1360">
                <a:solidFill>
                  <a:schemeClr val="tx1">
                    <a:tint val="75000"/>
                  </a:schemeClr>
                </a:solidFill>
              </a:defRPr>
            </a:lvl6pPr>
            <a:lvl7pPr marL="2331720" indent="0">
              <a:buNone/>
              <a:defRPr sz="1360">
                <a:solidFill>
                  <a:schemeClr val="tx1">
                    <a:tint val="75000"/>
                  </a:schemeClr>
                </a:solidFill>
              </a:defRPr>
            </a:lvl7pPr>
            <a:lvl8pPr marL="2720340" indent="0">
              <a:buNone/>
              <a:defRPr sz="1360">
                <a:solidFill>
                  <a:schemeClr val="tx1">
                    <a:tint val="75000"/>
                  </a:schemeClr>
                </a:solidFill>
              </a:defRPr>
            </a:lvl8pPr>
            <a:lvl9pPr marL="3108960" indent="0">
              <a:buNone/>
              <a:defRPr sz="136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39DB0B4-1DA6-4F54-B8B8-D86B0E4354AE}" type="datetimeFigureOut">
              <a:rPr lang="en-US" smtClean="0"/>
              <a:t>11/24/20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DBAD90F-33A5-414C-8CB3-8F20BD9B5F4C}" type="slidenum">
              <a:rPr lang="en-US" smtClean="0"/>
              <a:t>‹#›</a:t>
            </a:fld>
            <a:endParaRPr lang="en-US"/>
          </a:p>
        </p:txBody>
      </p:sp>
    </p:spTree>
    <p:extLst>
      <p:ext uri="{BB962C8B-B14F-4D97-AF65-F5344CB8AC3E}">
        <p14:creationId xmlns:p14="http://schemas.microsoft.com/office/powerpoint/2010/main" val="37918251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34353" y="2677584"/>
            <a:ext cx="3303270" cy="638196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934778" y="2677584"/>
            <a:ext cx="3303270" cy="638196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39DB0B4-1DA6-4F54-B8B8-D86B0E4354AE}" type="datetimeFigureOut">
              <a:rPr lang="en-US" smtClean="0"/>
              <a:t>11/24/20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DBAD90F-33A5-414C-8CB3-8F20BD9B5F4C}" type="slidenum">
              <a:rPr lang="en-US" smtClean="0"/>
              <a:t>‹#›</a:t>
            </a:fld>
            <a:endParaRPr lang="en-US"/>
          </a:p>
        </p:txBody>
      </p:sp>
    </p:spTree>
    <p:extLst>
      <p:ext uri="{BB962C8B-B14F-4D97-AF65-F5344CB8AC3E}">
        <p14:creationId xmlns:p14="http://schemas.microsoft.com/office/powerpoint/2010/main" val="23492159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5365" y="535519"/>
            <a:ext cx="6703695" cy="1944159"/>
          </a:xfrm>
        </p:spPr>
        <p:txBody>
          <a:bodyPr/>
          <a:lstStyle/>
          <a:p>
            <a:r>
              <a:rPr lang="en-US"/>
              <a:t>Click to edit Master title style</a:t>
            </a:r>
            <a:endParaRPr lang="en-US" dirty="0"/>
          </a:p>
        </p:txBody>
      </p:sp>
      <p:sp>
        <p:nvSpPr>
          <p:cNvPr id="3" name="Text Placeholder 2"/>
          <p:cNvSpPr>
            <a:spLocks noGrp="1"/>
          </p:cNvSpPr>
          <p:nvPr>
            <p:ph type="body" idx="1"/>
          </p:nvPr>
        </p:nvSpPr>
        <p:spPr>
          <a:xfrm>
            <a:off x="535366" y="2465706"/>
            <a:ext cx="3288089" cy="1208404"/>
          </a:xfrm>
        </p:spPr>
        <p:txBody>
          <a:bodyPr anchor="b"/>
          <a:lstStyle>
            <a:lvl1pPr marL="0" indent="0">
              <a:buNone/>
              <a:defRPr sz="2040" b="1"/>
            </a:lvl1pPr>
            <a:lvl2pPr marL="388620" indent="0">
              <a:buNone/>
              <a:defRPr sz="1700" b="1"/>
            </a:lvl2pPr>
            <a:lvl3pPr marL="777240" indent="0">
              <a:buNone/>
              <a:defRPr sz="1530" b="1"/>
            </a:lvl3pPr>
            <a:lvl4pPr marL="1165860" indent="0">
              <a:buNone/>
              <a:defRPr sz="1360" b="1"/>
            </a:lvl4pPr>
            <a:lvl5pPr marL="1554480" indent="0">
              <a:buNone/>
              <a:defRPr sz="1360" b="1"/>
            </a:lvl5pPr>
            <a:lvl6pPr marL="1943100" indent="0">
              <a:buNone/>
              <a:defRPr sz="1360" b="1"/>
            </a:lvl6pPr>
            <a:lvl7pPr marL="2331720" indent="0">
              <a:buNone/>
              <a:defRPr sz="1360" b="1"/>
            </a:lvl7pPr>
            <a:lvl8pPr marL="2720340" indent="0">
              <a:buNone/>
              <a:defRPr sz="1360" b="1"/>
            </a:lvl8pPr>
            <a:lvl9pPr marL="3108960" indent="0">
              <a:buNone/>
              <a:defRPr sz="1360" b="1"/>
            </a:lvl9pPr>
          </a:lstStyle>
          <a:p>
            <a:pPr lvl="0"/>
            <a:r>
              <a:rPr lang="en-US"/>
              <a:t>Edit Master text styles</a:t>
            </a:r>
          </a:p>
        </p:txBody>
      </p:sp>
      <p:sp>
        <p:nvSpPr>
          <p:cNvPr id="4" name="Content Placeholder 3"/>
          <p:cNvSpPr>
            <a:spLocks noGrp="1"/>
          </p:cNvSpPr>
          <p:nvPr>
            <p:ph sz="half" idx="2"/>
          </p:nvPr>
        </p:nvSpPr>
        <p:spPr>
          <a:xfrm>
            <a:off x="535366" y="3674110"/>
            <a:ext cx="3288089" cy="540406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934778" y="2465706"/>
            <a:ext cx="3304282" cy="1208404"/>
          </a:xfrm>
        </p:spPr>
        <p:txBody>
          <a:bodyPr anchor="b"/>
          <a:lstStyle>
            <a:lvl1pPr marL="0" indent="0">
              <a:buNone/>
              <a:defRPr sz="2040" b="1"/>
            </a:lvl1pPr>
            <a:lvl2pPr marL="388620" indent="0">
              <a:buNone/>
              <a:defRPr sz="1700" b="1"/>
            </a:lvl2pPr>
            <a:lvl3pPr marL="777240" indent="0">
              <a:buNone/>
              <a:defRPr sz="1530" b="1"/>
            </a:lvl3pPr>
            <a:lvl4pPr marL="1165860" indent="0">
              <a:buNone/>
              <a:defRPr sz="1360" b="1"/>
            </a:lvl4pPr>
            <a:lvl5pPr marL="1554480" indent="0">
              <a:buNone/>
              <a:defRPr sz="1360" b="1"/>
            </a:lvl5pPr>
            <a:lvl6pPr marL="1943100" indent="0">
              <a:buNone/>
              <a:defRPr sz="1360" b="1"/>
            </a:lvl6pPr>
            <a:lvl7pPr marL="2331720" indent="0">
              <a:buNone/>
              <a:defRPr sz="1360" b="1"/>
            </a:lvl7pPr>
            <a:lvl8pPr marL="2720340" indent="0">
              <a:buNone/>
              <a:defRPr sz="1360" b="1"/>
            </a:lvl8pPr>
            <a:lvl9pPr marL="3108960" indent="0">
              <a:buNone/>
              <a:defRPr sz="1360" b="1"/>
            </a:lvl9pPr>
          </a:lstStyle>
          <a:p>
            <a:pPr lvl="0"/>
            <a:r>
              <a:rPr lang="en-US"/>
              <a:t>Edit Master text styles</a:t>
            </a:r>
          </a:p>
        </p:txBody>
      </p:sp>
      <p:sp>
        <p:nvSpPr>
          <p:cNvPr id="6" name="Content Placeholder 5"/>
          <p:cNvSpPr>
            <a:spLocks noGrp="1"/>
          </p:cNvSpPr>
          <p:nvPr>
            <p:ph sz="quarter" idx="4"/>
          </p:nvPr>
        </p:nvSpPr>
        <p:spPr>
          <a:xfrm>
            <a:off x="3934778" y="3674110"/>
            <a:ext cx="3304282" cy="540406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39DB0B4-1DA6-4F54-B8B8-D86B0E4354AE}" type="datetimeFigureOut">
              <a:rPr lang="en-US" smtClean="0"/>
              <a:t>11/24/20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DBAD90F-33A5-414C-8CB3-8F20BD9B5F4C}" type="slidenum">
              <a:rPr lang="en-US" smtClean="0"/>
              <a:t>‹#›</a:t>
            </a:fld>
            <a:endParaRPr lang="en-US"/>
          </a:p>
        </p:txBody>
      </p:sp>
    </p:spTree>
    <p:extLst>
      <p:ext uri="{BB962C8B-B14F-4D97-AF65-F5344CB8AC3E}">
        <p14:creationId xmlns:p14="http://schemas.microsoft.com/office/powerpoint/2010/main" val="4782290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39DB0B4-1DA6-4F54-B8B8-D86B0E4354AE}" type="datetimeFigureOut">
              <a:rPr lang="en-US" smtClean="0"/>
              <a:t>11/24/20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DBAD90F-33A5-414C-8CB3-8F20BD9B5F4C}" type="slidenum">
              <a:rPr lang="en-US" smtClean="0"/>
              <a:t>‹#›</a:t>
            </a:fld>
            <a:endParaRPr lang="en-US"/>
          </a:p>
        </p:txBody>
      </p:sp>
    </p:spTree>
    <p:extLst>
      <p:ext uri="{BB962C8B-B14F-4D97-AF65-F5344CB8AC3E}">
        <p14:creationId xmlns:p14="http://schemas.microsoft.com/office/powerpoint/2010/main" val="17669325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9DB0B4-1DA6-4F54-B8B8-D86B0E4354AE}" type="datetimeFigureOut">
              <a:rPr lang="en-US" smtClean="0"/>
              <a:t>11/24/20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DBAD90F-33A5-414C-8CB3-8F20BD9B5F4C}" type="slidenum">
              <a:rPr lang="en-US" smtClean="0"/>
              <a:t>‹#›</a:t>
            </a:fld>
            <a:endParaRPr lang="en-US"/>
          </a:p>
        </p:txBody>
      </p:sp>
    </p:spTree>
    <p:extLst>
      <p:ext uri="{BB962C8B-B14F-4D97-AF65-F5344CB8AC3E}">
        <p14:creationId xmlns:p14="http://schemas.microsoft.com/office/powerpoint/2010/main" val="28000203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35365" y="670560"/>
            <a:ext cx="2506801" cy="2346960"/>
          </a:xfrm>
        </p:spPr>
        <p:txBody>
          <a:bodyPr anchor="b"/>
          <a:lstStyle>
            <a:lvl1pPr>
              <a:defRPr sz="2720"/>
            </a:lvl1pPr>
          </a:lstStyle>
          <a:p>
            <a:r>
              <a:rPr lang="en-US"/>
              <a:t>Click to edit Master title style</a:t>
            </a:r>
            <a:endParaRPr lang="en-US" dirty="0"/>
          </a:p>
        </p:txBody>
      </p:sp>
      <p:sp>
        <p:nvSpPr>
          <p:cNvPr id="3" name="Content Placeholder 2"/>
          <p:cNvSpPr>
            <a:spLocks noGrp="1"/>
          </p:cNvSpPr>
          <p:nvPr>
            <p:ph idx="1"/>
          </p:nvPr>
        </p:nvSpPr>
        <p:spPr>
          <a:xfrm>
            <a:off x="3304282" y="1448226"/>
            <a:ext cx="3934778" cy="7147983"/>
          </a:xfrm>
        </p:spPr>
        <p:txBody>
          <a:bodyPr/>
          <a:lstStyle>
            <a:lvl1pPr>
              <a:defRPr sz="2720"/>
            </a:lvl1pPr>
            <a:lvl2pPr>
              <a:defRPr sz="2380"/>
            </a:lvl2pPr>
            <a:lvl3pPr>
              <a:defRPr sz="2040"/>
            </a:lvl3pPr>
            <a:lvl4pPr>
              <a:defRPr sz="1700"/>
            </a:lvl4pPr>
            <a:lvl5pPr>
              <a:defRPr sz="1700"/>
            </a:lvl5pPr>
            <a:lvl6pPr>
              <a:defRPr sz="1700"/>
            </a:lvl6pPr>
            <a:lvl7pPr>
              <a:defRPr sz="1700"/>
            </a:lvl7pPr>
            <a:lvl8pPr>
              <a:defRPr sz="1700"/>
            </a:lvl8pPr>
            <a:lvl9pPr>
              <a:defRPr sz="17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35365" y="3017520"/>
            <a:ext cx="2506801" cy="5590329"/>
          </a:xfrm>
        </p:spPr>
        <p:txBody>
          <a:bodyPr/>
          <a:lstStyle>
            <a:lvl1pPr marL="0" indent="0">
              <a:buNone/>
              <a:defRPr sz="1360"/>
            </a:lvl1pPr>
            <a:lvl2pPr marL="388620" indent="0">
              <a:buNone/>
              <a:defRPr sz="1190"/>
            </a:lvl2pPr>
            <a:lvl3pPr marL="777240" indent="0">
              <a:buNone/>
              <a:defRPr sz="1020"/>
            </a:lvl3pPr>
            <a:lvl4pPr marL="1165860" indent="0">
              <a:buNone/>
              <a:defRPr sz="850"/>
            </a:lvl4pPr>
            <a:lvl5pPr marL="1554480" indent="0">
              <a:buNone/>
              <a:defRPr sz="850"/>
            </a:lvl5pPr>
            <a:lvl6pPr marL="1943100" indent="0">
              <a:buNone/>
              <a:defRPr sz="850"/>
            </a:lvl6pPr>
            <a:lvl7pPr marL="2331720" indent="0">
              <a:buNone/>
              <a:defRPr sz="850"/>
            </a:lvl7pPr>
            <a:lvl8pPr marL="2720340" indent="0">
              <a:buNone/>
              <a:defRPr sz="850"/>
            </a:lvl8pPr>
            <a:lvl9pPr marL="3108960" indent="0">
              <a:buNone/>
              <a:defRPr sz="850"/>
            </a:lvl9pPr>
          </a:lstStyle>
          <a:p>
            <a:pPr lvl="0"/>
            <a:r>
              <a:rPr lang="en-US"/>
              <a:t>Edit Master text styles</a:t>
            </a:r>
          </a:p>
        </p:txBody>
      </p:sp>
      <p:sp>
        <p:nvSpPr>
          <p:cNvPr id="5" name="Date Placeholder 4"/>
          <p:cNvSpPr>
            <a:spLocks noGrp="1"/>
          </p:cNvSpPr>
          <p:nvPr>
            <p:ph type="dt" sz="half" idx="10"/>
          </p:nvPr>
        </p:nvSpPr>
        <p:spPr/>
        <p:txBody>
          <a:bodyPr/>
          <a:lstStyle/>
          <a:p>
            <a:fld id="{539DB0B4-1DA6-4F54-B8B8-D86B0E4354AE}" type="datetimeFigureOut">
              <a:rPr lang="en-US" smtClean="0"/>
              <a:t>11/24/20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DBAD90F-33A5-414C-8CB3-8F20BD9B5F4C}" type="slidenum">
              <a:rPr lang="en-US" smtClean="0"/>
              <a:t>‹#›</a:t>
            </a:fld>
            <a:endParaRPr lang="en-US"/>
          </a:p>
        </p:txBody>
      </p:sp>
    </p:spTree>
    <p:extLst>
      <p:ext uri="{BB962C8B-B14F-4D97-AF65-F5344CB8AC3E}">
        <p14:creationId xmlns:p14="http://schemas.microsoft.com/office/powerpoint/2010/main" val="30491286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35365" y="670560"/>
            <a:ext cx="2506801" cy="2346960"/>
          </a:xfrm>
        </p:spPr>
        <p:txBody>
          <a:bodyPr anchor="b"/>
          <a:lstStyle>
            <a:lvl1pPr>
              <a:defRPr sz="2720"/>
            </a:lvl1pPr>
          </a:lstStyle>
          <a:p>
            <a:r>
              <a:rPr lang="en-US"/>
              <a:t>Click to edit Master title style</a:t>
            </a:r>
            <a:endParaRPr lang="en-US" dirty="0"/>
          </a:p>
        </p:txBody>
      </p:sp>
      <p:sp>
        <p:nvSpPr>
          <p:cNvPr id="3" name="Picture Placeholder 2"/>
          <p:cNvSpPr>
            <a:spLocks noGrp="1" noChangeAspect="1"/>
          </p:cNvSpPr>
          <p:nvPr>
            <p:ph type="pic" idx="1"/>
          </p:nvPr>
        </p:nvSpPr>
        <p:spPr>
          <a:xfrm>
            <a:off x="3304282" y="1448226"/>
            <a:ext cx="3934778" cy="7147983"/>
          </a:xfrm>
        </p:spPr>
        <p:txBody>
          <a:bodyPr anchor="t"/>
          <a:lstStyle>
            <a:lvl1pPr marL="0" indent="0">
              <a:buNone/>
              <a:defRPr sz="2720"/>
            </a:lvl1pPr>
            <a:lvl2pPr marL="388620" indent="0">
              <a:buNone/>
              <a:defRPr sz="2380"/>
            </a:lvl2pPr>
            <a:lvl3pPr marL="777240" indent="0">
              <a:buNone/>
              <a:defRPr sz="2040"/>
            </a:lvl3pPr>
            <a:lvl4pPr marL="1165860" indent="0">
              <a:buNone/>
              <a:defRPr sz="1700"/>
            </a:lvl4pPr>
            <a:lvl5pPr marL="1554480" indent="0">
              <a:buNone/>
              <a:defRPr sz="1700"/>
            </a:lvl5pPr>
            <a:lvl6pPr marL="1943100" indent="0">
              <a:buNone/>
              <a:defRPr sz="1700"/>
            </a:lvl6pPr>
            <a:lvl7pPr marL="2331720" indent="0">
              <a:buNone/>
              <a:defRPr sz="1700"/>
            </a:lvl7pPr>
            <a:lvl8pPr marL="2720340" indent="0">
              <a:buNone/>
              <a:defRPr sz="1700"/>
            </a:lvl8pPr>
            <a:lvl9pPr marL="3108960" indent="0">
              <a:buNone/>
              <a:defRPr sz="1700"/>
            </a:lvl9pPr>
          </a:lstStyle>
          <a:p>
            <a:r>
              <a:rPr lang="en-US"/>
              <a:t>Click icon to add picture</a:t>
            </a:r>
            <a:endParaRPr lang="en-US" dirty="0"/>
          </a:p>
        </p:txBody>
      </p:sp>
      <p:sp>
        <p:nvSpPr>
          <p:cNvPr id="4" name="Text Placeholder 3"/>
          <p:cNvSpPr>
            <a:spLocks noGrp="1"/>
          </p:cNvSpPr>
          <p:nvPr>
            <p:ph type="body" sz="half" idx="2"/>
          </p:nvPr>
        </p:nvSpPr>
        <p:spPr>
          <a:xfrm>
            <a:off x="535365" y="3017520"/>
            <a:ext cx="2506801" cy="5590329"/>
          </a:xfrm>
        </p:spPr>
        <p:txBody>
          <a:bodyPr/>
          <a:lstStyle>
            <a:lvl1pPr marL="0" indent="0">
              <a:buNone/>
              <a:defRPr sz="1360"/>
            </a:lvl1pPr>
            <a:lvl2pPr marL="388620" indent="0">
              <a:buNone/>
              <a:defRPr sz="1190"/>
            </a:lvl2pPr>
            <a:lvl3pPr marL="777240" indent="0">
              <a:buNone/>
              <a:defRPr sz="1020"/>
            </a:lvl3pPr>
            <a:lvl4pPr marL="1165860" indent="0">
              <a:buNone/>
              <a:defRPr sz="850"/>
            </a:lvl4pPr>
            <a:lvl5pPr marL="1554480" indent="0">
              <a:buNone/>
              <a:defRPr sz="850"/>
            </a:lvl5pPr>
            <a:lvl6pPr marL="1943100" indent="0">
              <a:buNone/>
              <a:defRPr sz="850"/>
            </a:lvl6pPr>
            <a:lvl7pPr marL="2331720" indent="0">
              <a:buNone/>
              <a:defRPr sz="850"/>
            </a:lvl7pPr>
            <a:lvl8pPr marL="2720340" indent="0">
              <a:buNone/>
              <a:defRPr sz="850"/>
            </a:lvl8pPr>
            <a:lvl9pPr marL="3108960" indent="0">
              <a:buNone/>
              <a:defRPr sz="850"/>
            </a:lvl9pPr>
          </a:lstStyle>
          <a:p>
            <a:pPr lvl="0"/>
            <a:r>
              <a:rPr lang="en-US"/>
              <a:t>Edit Master text styles</a:t>
            </a:r>
          </a:p>
        </p:txBody>
      </p:sp>
      <p:sp>
        <p:nvSpPr>
          <p:cNvPr id="5" name="Date Placeholder 4"/>
          <p:cNvSpPr>
            <a:spLocks noGrp="1"/>
          </p:cNvSpPr>
          <p:nvPr>
            <p:ph type="dt" sz="half" idx="10"/>
          </p:nvPr>
        </p:nvSpPr>
        <p:spPr/>
        <p:txBody>
          <a:bodyPr/>
          <a:lstStyle/>
          <a:p>
            <a:fld id="{539DB0B4-1DA6-4F54-B8B8-D86B0E4354AE}" type="datetimeFigureOut">
              <a:rPr lang="en-US" smtClean="0"/>
              <a:t>11/24/20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DBAD90F-33A5-414C-8CB3-8F20BD9B5F4C}" type="slidenum">
              <a:rPr lang="en-US" smtClean="0"/>
              <a:t>‹#›</a:t>
            </a:fld>
            <a:endParaRPr lang="en-US"/>
          </a:p>
        </p:txBody>
      </p:sp>
    </p:spTree>
    <p:extLst>
      <p:ext uri="{BB962C8B-B14F-4D97-AF65-F5344CB8AC3E}">
        <p14:creationId xmlns:p14="http://schemas.microsoft.com/office/powerpoint/2010/main" val="4377956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39DB0B4-1DA6-4F54-B8B8-D86B0E4354AE}" type="datetimeFigureOut">
              <a:rPr lang="en-US" smtClean="0"/>
              <a:t>11/24/20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DBAD90F-33A5-414C-8CB3-8F20BD9B5F4C}" type="slidenum">
              <a:rPr lang="en-US" smtClean="0"/>
              <a:t>‹#›</a:t>
            </a:fld>
            <a:endParaRPr lang="en-US"/>
          </a:p>
        </p:txBody>
      </p:sp>
    </p:spTree>
    <p:extLst>
      <p:ext uri="{BB962C8B-B14F-4D97-AF65-F5344CB8AC3E}">
        <p14:creationId xmlns:p14="http://schemas.microsoft.com/office/powerpoint/2010/main" val="550277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562124" y="535517"/>
            <a:ext cx="1675924" cy="8524029"/>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534353" y="535517"/>
            <a:ext cx="4930616" cy="8524029"/>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39DB0B4-1DA6-4F54-B8B8-D86B0E4354AE}" type="datetimeFigureOut">
              <a:rPr lang="en-US" smtClean="0"/>
              <a:t>11/24/20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DBAD90F-33A5-414C-8CB3-8F20BD9B5F4C}" type="slidenum">
              <a:rPr lang="en-US" smtClean="0"/>
              <a:t>‹#›</a:t>
            </a:fld>
            <a:endParaRPr lang="en-US"/>
          </a:p>
        </p:txBody>
      </p:sp>
    </p:spTree>
    <p:extLst>
      <p:ext uri="{BB962C8B-B14F-4D97-AF65-F5344CB8AC3E}">
        <p14:creationId xmlns:p14="http://schemas.microsoft.com/office/powerpoint/2010/main" val="14179133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34353" y="535519"/>
            <a:ext cx="6703695" cy="1944159"/>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534353" y="2677584"/>
            <a:ext cx="6703695" cy="6381962"/>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34353" y="9322649"/>
            <a:ext cx="1748790" cy="535517"/>
          </a:xfrm>
          <a:prstGeom prst="rect">
            <a:avLst/>
          </a:prstGeom>
        </p:spPr>
        <p:txBody>
          <a:bodyPr vert="horz" lIns="91440" tIns="45720" rIns="91440" bIns="45720" rtlCol="0" anchor="ctr"/>
          <a:lstStyle>
            <a:lvl1pPr algn="l">
              <a:defRPr sz="1020">
                <a:solidFill>
                  <a:schemeClr val="tx1">
                    <a:tint val="75000"/>
                  </a:schemeClr>
                </a:solidFill>
              </a:defRPr>
            </a:lvl1pPr>
          </a:lstStyle>
          <a:p>
            <a:fld id="{539DB0B4-1DA6-4F54-B8B8-D86B0E4354AE}" type="datetimeFigureOut">
              <a:rPr lang="en-US" smtClean="0"/>
              <a:t>11/24/20</a:t>
            </a:fld>
            <a:endParaRPr lang="en-US"/>
          </a:p>
        </p:txBody>
      </p:sp>
      <p:sp>
        <p:nvSpPr>
          <p:cNvPr id="5" name="Footer Placeholder 4"/>
          <p:cNvSpPr>
            <a:spLocks noGrp="1"/>
          </p:cNvSpPr>
          <p:nvPr>
            <p:ph type="ftr" sz="quarter" idx="3"/>
          </p:nvPr>
        </p:nvSpPr>
        <p:spPr>
          <a:xfrm>
            <a:off x="2574608" y="9322649"/>
            <a:ext cx="2623185" cy="535517"/>
          </a:xfrm>
          <a:prstGeom prst="rect">
            <a:avLst/>
          </a:prstGeom>
        </p:spPr>
        <p:txBody>
          <a:bodyPr vert="horz" lIns="91440" tIns="45720" rIns="91440" bIns="45720" rtlCol="0" anchor="ctr"/>
          <a:lstStyle>
            <a:lvl1pPr algn="ctr">
              <a:defRPr sz="102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5489258" y="9322649"/>
            <a:ext cx="1748790" cy="535517"/>
          </a:xfrm>
          <a:prstGeom prst="rect">
            <a:avLst/>
          </a:prstGeom>
        </p:spPr>
        <p:txBody>
          <a:bodyPr vert="horz" lIns="91440" tIns="45720" rIns="91440" bIns="45720" rtlCol="0" anchor="ctr"/>
          <a:lstStyle>
            <a:lvl1pPr algn="r">
              <a:defRPr sz="1020">
                <a:solidFill>
                  <a:schemeClr val="tx1">
                    <a:tint val="75000"/>
                  </a:schemeClr>
                </a:solidFill>
              </a:defRPr>
            </a:lvl1pPr>
          </a:lstStyle>
          <a:p>
            <a:fld id="{9DBAD90F-33A5-414C-8CB3-8F20BD9B5F4C}" type="slidenum">
              <a:rPr lang="en-US" smtClean="0"/>
              <a:t>‹#›</a:t>
            </a:fld>
            <a:endParaRPr lang="en-US"/>
          </a:p>
        </p:txBody>
      </p:sp>
    </p:spTree>
    <p:extLst>
      <p:ext uri="{BB962C8B-B14F-4D97-AF65-F5344CB8AC3E}">
        <p14:creationId xmlns:p14="http://schemas.microsoft.com/office/powerpoint/2010/main" val="130442026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777240" rtl="0" eaLnBrk="1" latinLnBrk="0" hangingPunct="1">
        <a:lnSpc>
          <a:spcPct val="90000"/>
        </a:lnSpc>
        <a:spcBef>
          <a:spcPct val="0"/>
        </a:spcBef>
        <a:buNone/>
        <a:defRPr sz="3740" kern="1200">
          <a:solidFill>
            <a:schemeClr val="tx1"/>
          </a:solidFill>
          <a:latin typeface="+mj-lt"/>
          <a:ea typeface="+mj-ea"/>
          <a:cs typeface="+mj-cs"/>
        </a:defRPr>
      </a:lvl1pPr>
    </p:titleStyle>
    <p:bodyStyle>
      <a:lvl1pPr marL="194310" indent="-194310" algn="l" defTabSz="777240" rtl="0" eaLnBrk="1" latinLnBrk="0" hangingPunct="1">
        <a:lnSpc>
          <a:spcPct val="90000"/>
        </a:lnSpc>
        <a:spcBef>
          <a:spcPts val="850"/>
        </a:spcBef>
        <a:buFont typeface="Arial" panose="020B0604020202020204" pitchFamily="34" charset="0"/>
        <a:buChar char="•"/>
        <a:defRPr sz="2380" kern="1200">
          <a:solidFill>
            <a:schemeClr val="tx1"/>
          </a:solidFill>
          <a:latin typeface="+mn-lt"/>
          <a:ea typeface="+mn-ea"/>
          <a:cs typeface="+mn-cs"/>
        </a:defRPr>
      </a:lvl1pPr>
      <a:lvl2pPr marL="582930" indent="-194310" algn="l" defTabSz="777240" rtl="0" eaLnBrk="1" latinLnBrk="0" hangingPunct="1">
        <a:lnSpc>
          <a:spcPct val="90000"/>
        </a:lnSpc>
        <a:spcBef>
          <a:spcPts val="425"/>
        </a:spcBef>
        <a:buFont typeface="Arial" panose="020B0604020202020204" pitchFamily="34" charset="0"/>
        <a:buChar char="•"/>
        <a:defRPr sz="2040" kern="1200">
          <a:solidFill>
            <a:schemeClr val="tx1"/>
          </a:solidFill>
          <a:latin typeface="+mn-lt"/>
          <a:ea typeface="+mn-ea"/>
          <a:cs typeface="+mn-cs"/>
        </a:defRPr>
      </a:lvl2pPr>
      <a:lvl3pPr marL="971550" indent="-194310" algn="l" defTabSz="777240" rtl="0" eaLnBrk="1" latinLnBrk="0" hangingPunct="1">
        <a:lnSpc>
          <a:spcPct val="90000"/>
        </a:lnSpc>
        <a:spcBef>
          <a:spcPts val="425"/>
        </a:spcBef>
        <a:buFont typeface="Arial" panose="020B0604020202020204" pitchFamily="34" charset="0"/>
        <a:buChar char="•"/>
        <a:defRPr sz="1700" kern="1200">
          <a:solidFill>
            <a:schemeClr val="tx1"/>
          </a:solidFill>
          <a:latin typeface="+mn-lt"/>
          <a:ea typeface="+mn-ea"/>
          <a:cs typeface="+mn-cs"/>
        </a:defRPr>
      </a:lvl3pPr>
      <a:lvl4pPr marL="136017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4pPr>
      <a:lvl5pPr marL="174879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5pPr>
      <a:lvl6pPr marL="213741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6pPr>
      <a:lvl7pPr marL="252603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7pPr>
      <a:lvl8pPr marL="291465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8pPr>
      <a:lvl9pPr marL="330327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9pPr>
    </p:bodyStyle>
    <p:otherStyle>
      <a:defPPr>
        <a:defRPr lang="en-US"/>
      </a:defPPr>
      <a:lvl1pPr marL="0" algn="l" defTabSz="777240" rtl="0" eaLnBrk="1" latinLnBrk="0" hangingPunct="1">
        <a:defRPr sz="1530" kern="1200">
          <a:solidFill>
            <a:schemeClr val="tx1"/>
          </a:solidFill>
          <a:latin typeface="+mn-lt"/>
          <a:ea typeface="+mn-ea"/>
          <a:cs typeface="+mn-cs"/>
        </a:defRPr>
      </a:lvl1pPr>
      <a:lvl2pPr marL="388620" algn="l" defTabSz="777240" rtl="0" eaLnBrk="1" latinLnBrk="0" hangingPunct="1">
        <a:defRPr sz="1530" kern="1200">
          <a:solidFill>
            <a:schemeClr val="tx1"/>
          </a:solidFill>
          <a:latin typeface="+mn-lt"/>
          <a:ea typeface="+mn-ea"/>
          <a:cs typeface="+mn-cs"/>
        </a:defRPr>
      </a:lvl2pPr>
      <a:lvl3pPr marL="777240" algn="l" defTabSz="777240" rtl="0" eaLnBrk="1" latinLnBrk="0" hangingPunct="1">
        <a:defRPr sz="1530" kern="1200">
          <a:solidFill>
            <a:schemeClr val="tx1"/>
          </a:solidFill>
          <a:latin typeface="+mn-lt"/>
          <a:ea typeface="+mn-ea"/>
          <a:cs typeface="+mn-cs"/>
        </a:defRPr>
      </a:lvl3pPr>
      <a:lvl4pPr marL="1165860" algn="l" defTabSz="777240" rtl="0" eaLnBrk="1" latinLnBrk="0" hangingPunct="1">
        <a:defRPr sz="1530" kern="1200">
          <a:solidFill>
            <a:schemeClr val="tx1"/>
          </a:solidFill>
          <a:latin typeface="+mn-lt"/>
          <a:ea typeface="+mn-ea"/>
          <a:cs typeface="+mn-cs"/>
        </a:defRPr>
      </a:lvl4pPr>
      <a:lvl5pPr marL="1554480" algn="l" defTabSz="777240" rtl="0" eaLnBrk="1" latinLnBrk="0" hangingPunct="1">
        <a:defRPr sz="1530" kern="1200">
          <a:solidFill>
            <a:schemeClr val="tx1"/>
          </a:solidFill>
          <a:latin typeface="+mn-lt"/>
          <a:ea typeface="+mn-ea"/>
          <a:cs typeface="+mn-cs"/>
        </a:defRPr>
      </a:lvl5pPr>
      <a:lvl6pPr marL="1943100" algn="l" defTabSz="777240" rtl="0" eaLnBrk="1" latinLnBrk="0" hangingPunct="1">
        <a:defRPr sz="1530" kern="1200">
          <a:solidFill>
            <a:schemeClr val="tx1"/>
          </a:solidFill>
          <a:latin typeface="+mn-lt"/>
          <a:ea typeface="+mn-ea"/>
          <a:cs typeface="+mn-cs"/>
        </a:defRPr>
      </a:lvl6pPr>
      <a:lvl7pPr marL="2331720" algn="l" defTabSz="777240" rtl="0" eaLnBrk="1" latinLnBrk="0" hangingPunct="1">
        <a:defRPr sz="1530" kern="1200">
          <a:solidFill>
            <a:schemeClr val="tx1"/>
          </a:solidFill>
          <a:latin typeface="+mn-lt"/>
          <a:ea typeface="+mn-ea"/>
          <a:cs typeface="+mn-cs"/>
        </a:defRPr>
      </a:lvl7pPr>
      <a:lvl8pPr marL="2720340" algn="l" defTabSz="777240" rtl="0" eaLnBrk="1" latinLnBrk="0" hangingPunct="1">
        <a:defRPr sz="1530" kern="1200">
          <a:solidFill>
            <a:schemeClr val="tx1"/>
          </a:solidFill>
          <a:latin typeface="+mn-lt"/>
          <a:ea typeface="+mn-ea"/>
          <a:cs typeface="+mn-cs"/>
        </a:defRPr>
      </a:lvl8pPr>
      <a:lvl9pPr marL="3108960" algn="l" defTabSz="777240" rtl="0" eaLnBrk="1" latinLnBrk="0" hangingPunct="1">
        <a:defRPr sz="153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www.ruralmn.org/" TargetMode="External"/><Relationship Id="rId2" Type="http://schemas.openxmlformats.org/officeDocument/2006/relationships/image" Target="../media/image1.jpg"/><Relationship Id="rId1" Type="http://schemas.openxmlformats.org/officeDocument/2006/relationships/slideLayout" Target="../slideLayouts/slideLayout7.xml"/><Relationship Id="rId5" Type="http://schemas.openxmlformats.org/officeDocument/2006/relationships/image" Target="../media/image3.emf"/><Relationship Id="rId4" Type="http://schemas.openxmlformats.org/officeDocument/2006/relationships/image" Target="../media/image2.emf"/></Relationships>
</file>

<file path=ppt/slides/_rels/slide2.xml.rels><?xml version="1.0" encoding="UTF-8" standalone="yes"?>
<Relationships xmlns="http://schemas.openxmlformats.org/package/2006/relationships"><Relationship Id="rId3" Type="http://schemas.openxmlformats.org/officeDocument/2006/relationships/hyperlink" Target="http://www.ruralmn.org/" TargetMode="External"/><Relationship Id="rId2" Type="http://schemas.openxmlformats.org/officeDocument/2006/relationships/image" Target="../media/image1.jpg"/><Relationship Id="rId1" Type="http://schemas.openxmlformats.org/officeDocument/2006/relationships/slideLayout" Target="../slideLayouts/slideLayout7.xml"/><Relationship Id="rId4" Type="http://schemas.openxmlformats.org/officeDocument/2006/relationships/image" Target="../media/image4.emf"/></Relationships>
</file>

<file path=ppt/slides/_rels/slide3.xml.rels><?xml version="1.0" encoding="UTF-8" standalone="yes"?>
<Relationships xmlns="http://schemas.openxmlformats.org/package/2006/relationships"><Relationship Id="rId3" Type="http://schemas.openxmlformats.org/officeDocument/2006/relationships/hyperlink" Target="http://www.ruralmn.org/" TargetMode="External"/><Relationship Id="rId2" Type="http://schemas.openxmlformats.org/officeDocument/2006/relationships/image" Target="../media/image1.jpg"/><Relationship Id="rId1" Type="http://schemas.openxmlformats.org/officeDocument/2006/relationships/slideLayout" Target="../slideLayouts/slideLayout7.xml"/><Relationship Id="rId4" Type="http://schemas.openxmlformats.org/officeDocument/2006/relationships/image" Target="../media/image5.emf"/></Relationships>
</file>

<file path=ppt/slides/_rels/slide4.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hyperlink" Target="http://www.ruralmn.org/" TargetMode="External"/><Relationship Id="rId7" Type="http://schemas.openxmlformats.org/officeDocument/2006/relationships/image" Target="../media/image9.svg"/><Relationship Id="rId2" Type="http://schemas.openxmlformats.org/officeDocument/2006/relationships/image" Target="../media/image1.jpg"/><Relationship Id="rId1" Type="http://schemas.openxmlformats.org/officeDocument/2006/relationships/slideLayout" Target="../slideLayouts/slideLayout7.xml"/><Relationship Id="rId6" Type="http://schemas.openxmlformats.org/officeDocument/2006/relationships/image" Target="../media/image8.png"/><Relationship Id="rId11" Type="http://schemas.openxmlformats.org/officeDocument/2006/relationships/image" Target="../media/image13.svg"/><Relationship Id="rId5" Type="http://schemas.openxmlformats.org/officeDocument/2006/relationships/image" Target="../media/image7.sv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259A9C95-6E86-436B-B6AB-B9C43D8DD3E9}"/>
              </a:ext>
            </a:extLst>
          </p:cNvPr>
          <p:cNvSpPr txBox="1"/>
          <p:nvPr/>
        </p:nvSpPr>
        <p:spPr>
          <a:xfrm>
            <a:off x="595559" y="1702628"/>
            <a:ext cx="6581275" cy="477054"/>
          </a:xfrm>
          <a:prstGeom prst="rect">
            <a:avLst/>
          </a:prstGeom>
          <a:noFill/>
        </p:spPr>
        <p:txBody>
          <a:bodyPr wrap="square" rtlCol="0">
            <a:spAutoFit/>
          </a:bodyPr>
          <a:lstStyle/>
          <a:p>
            <a:pPr algn="ctr"/>
            <a:r>
              <a:rPr lang="en-US" sz="2500" i="1" dirty="0">
                <a:solidFill>
                  <a:srgbClr val="076324"/>
                </a:solidFill>
                <a:latin typeface="Helvetica Neue Light" panose="02000403000000020004" pitchFamily="2" charset="0"/>
                <a:ea typeface="Helvetica Neue Light" panose="02000403000000020004" pitchFamily="2" charset="0"/>
                <a:cs typeface="Helvetica Neue" panose="02000503000000020004" pitchFamily="2" charset="0"/>
              </a:rPr>
              <a:t>COVID-19 impacts on rural the rural workforce</a:t>
            </a:r>
            <a:endParaRPr lang="en-US" sz="2000" i="1" dirty="0">
              <a:solidFill>
                <a:srgbClr val="076324"/>
              </a:solidFill>
              <a:latin typeface="Helvetica Neue Light" panose="02000403000000020004" pitchFamily="2" charset="0"/>
              <a:ea typeface="Helvetica Neue Light" panose="02000403000000020004" pitchFamily="2" charset="0"/>
              <a:cs typeface="Helvetica Neue" panose="02000503000000020004" pitchFamily="2" charset="0"/>
            </a:endParaRPr>
          </a:p>
        </p:txBody>
      </p:sp>
      <p:sp>
        <p:nvSpPr>
          <p:cNvPr id="8" name="TextBox 7">
            <a:extLst>
              <a:ext uri="{FF2B5EF4-FFF2-40B4-BE49-F238E27FC236}">
                <a16:creationId xmlns:a16="http://schemas.microsoft.com/office/drawing/2014/main" id="{6CFF3C47-4EA1-4D60-8642-F03AD1AAFAC4}"/>
              </a:ext>
            </a:extLst>
          </p:cNvPr>
          <p:cNvSpPr txBox="1"/>
          <p:nvPr/>
        </p:nvSpPr>
        <p:spPr>
          <a:xfrm>
            <a:off x="4180974" y="573402"/>
            <a:ext cx="2995863" cy="892552"/>
          </a:xfrm>
          <a:prstGeom prst="rect">
            <a:avLst/>
          </a:prstGeom>
          <a:noFill/>
        </p:spPr>
        <p:txBody>
          <a:bodyPr wrap="square" rtlCol="0">
            <a:spAutoFit/>
          </a:bodyPr>
          <a:lstStyle/>
          <a:p>
            <a:pPr algn="r"/>
            <a:r>
              <a:rPr lang="en-US" sz="1200" dirty="0">
                <a:latin typeface="Helvetica Neue" panose="02000503000000020004" pitchFamily="2" charset="0"/>
                <a:ea typeface="Helvetica Neue" panose="02000503000000020004" pitchFamily="2" charset="0"/>
                <a:cs typeface="Helvetica Neue" panose="02000503000000020004" pitchFamily="2" charset="0"/>
              </a:rPr>
              <a:t>P.O. Box 3185</a:t>
            </a:r>
          </a:p>
          <a:p>
            <a:pPr algn="r"/>
            <a:r>
              <a:rPr lang="en-US" sz="1200" dirty="0">
                <a:latin typeface="Helvetica Neue" panose="02000503000000020004" pitchFamily="2" charset="0"/>
                <a:ea typeface="Helvetica Neue" panose="02000503000000020004" pitchFamily="2" charset="0"/>
                <a:cs typeface="Helvetica Neue" panose="02000503000000020004" pitchFamily="2" charset="0"/>
              </a:rPr>
              <a:t>Mankato, MN 56002-3185</a:t>
            </a:r>
          </a:p>
          <a:p>
            <a:pPr algn="r"/>
            <a:r>
              <a:rPr lang="en-US" sz="1200" dirty="0">
                <a:latin typeface="Helvetica Neue" panose="02000503000000020004" pitchFamily="2" charset="0"/>
                <a:ea typeface="Helvetica Neue" panose="02000503000000020004" pitchFamily="2" charset="0"/>
                <a:cs typeface="Helvetica Neue" panose="02000503000000020004" pitchFamily="2" charset="0"/>
              </a:rPr>
              <a:t>(507) 934-7700</a:t>
            </a:r>
            <a:endParaRPr lang="en-US" dirty="0">
              <a:latin typeface="Helvetica Neue" panose="02000503000000020004" pitchFamily="2" charset="0"/>
              <a:ea typeface="Helvetica Neue" panose="02000503000000020004" pitchFamily="2" charset="0"/>
              <a:cs typeface="Helvetica Neue" panose="02000503000000020004" pitchFamily="2" charset="0"/>
            </a:endParaRPr>
          </a:p>
          <a:p>
            <a:pPr algn="r"/>
            <a:r>
              <a:rPr lang="en-US" sz="1600" b="1" dirty="0">
                <a:latin typeface="Helvetica Neue" panose="02000503000000020004" pitchFamily="2" charset="0"/>
                <a:ea typeface="Helvetica Neue" panose="02000503000000020004" pitchFamily="2" charset="0"/>
                <a:cs typeface="Helvetica Neue" panose="02000503000000020004" pitchFamily="2" charset="0"/>
              </a:rPr>
              <a:t>www.ruralmn.org</a:t>
            </a:r>
          </a:p>
        </p:txBody>
      </p:sp>
      <p:pic>
        <p:nvPicPr>
          <p:cNvPr id="5" name="Picture 4">
            <a:extLst>
              <a:ext uri="{FF2B5EF4-FFF2-40B4-BE49-F238E27FC236}">
                <a16:creationId xmlns:a16="http://schemas.microsoft.com/office/drawing/2014/main" id="{D2EB52EE-BDC8-4455-83F5-5D79850876A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5562" y="336728"/>
            <a:ext cx="3585412" cy="1090990"/>
          </a:xfrm>
          <a:prstGeom prst="rect">
            <a:avLst/>
          </a:prstGeom>
        </p:spPr>
      </p:pic>
      <p:sp>
        <p:nvSpPr>
          <p:cNvPr id="4" name="TextBox 3">
            <a:extLst>
              <a:ext uri="{FF2B5EF4-FFF2-40B4-BE49-F238E27FC236}">
                <a16:creationId xmlns:a16="http://schemas.microsoft.com/office/drawing/2014/main" id="{3B9C945B-C125-41CA-A1D8-92D8204E84FF}"/>
              </a:ext>
            </a:extLst>
          </p:cNvPr>
          <p:cNvSpPr txBox="1"/>
          <p:nvPr/>
        </p:nvSpPr>
        <p:spPr>
          <a:xfrm>
            <a:off x="1254208" y="9429284"/>
            <a:ext cx="5263979" cy="292388"/>
          </a:xfrm>
          <a:prstGeom prst="rect">
            <a:avLst/>
          </a:prstGeom>
          <a:noFill/>
        </p:spPr>
        <p:txBody>
          <a:bodyPr wrap="square" rtlCol="0">
            <a:spAutoFit/>
          </a:bodyPr>
          <a:lstStyle/>
          <a:p>
            <a:pPr algn="ctr"/>
            <a:r>
              <a:rPr lang="en-US" sz="1300" dirty="0">
                <a:latin typeface="Helvetica Neue" panose="02000503000000020004" pitchFamily="2" charset="0"/>
                <a:ea typeface="Helvetica Neue" panose="02000503000000020004" pitchFamily="2" charset="0"/>
                <a:cs typeface="Helvetica Neue" panose="02000503000000020004" pitchFamily="2" charset="0"/>
              </a:rPr>
              <a:t>To read the full report, visit our website at </a:t>
            </a:r>
            <a:r>
              <a:rPr lang="en-US" sz="1300" dirty="0">
                <a:solidFill>
                  <a:schemeClr val="accent6">
                    <a:lumMod val="75000"/>
                  </a:schemeClr>
                </a:solidFill>
                <a:latin typeface="Helvetica Neue" panose="02000503000000020004" pitchFamily="2" charset="0"/>
                <a:ea typeface="Helvetica Neue" panose="02000503000000020004" pitchFamily="2" charset="0"/>
                <a:cs typeface="Helvetica Neue" panose="02000503000000020004" pitchFamily="2" charset="0"/>
                <a:hlinkClick r:id="rId3">
                  <a:extLst>
                    <a:ext uri="{A12FA001-AC4F-418D-AE19-62706E023703}">
                      <ahyp:hlinkClr xmlns:ahyp="http://schemas.microsoft.com/office/drawing/2018/hyperlinkcolor" val="tx"/>
                    </a:ext>
                  </a:extLst>
                </a:hlinkClick>
              </a:rPr>
              <a:t>ruralmn.org</a:t>
            </a:r>
            <a:r>
              <a:rPr lang="en-US" sz="1300" dirty="0">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57" name="TextBox 56">
            <a:extLst>
              <a:ext uri="{FF2B5EF4-FFF2-40B4-BE49-F238E27FC236}">
                <a16:creationId xmlns:a16="http://schemas.microsoft.com/office/drawing/2014/main" id="{A3A9EDB5-E252-0E47-8DAB-4CB921DBDBAD}"/>
              </a:ext>
            </a:extLst>
          </p:cNvPr>
          <p:cNvSpPr txBox="1"/>
          <p:nvPr/>
        </p:nvSpPr>
        <p:spPr>
          <a:xfrm>
            <a:off x="595557" y="5326381"/>
            <a:ext cx="6581275" cy="1200329"/>
          </a:xfrm>
          <a:prstGeom prst="rect">
            <a:avLst/>
          </a:prstGeom>
          <a:noFill/>
        </p:spPr>
        <p:txBody>
          <a:bodyPr wrap="square" rtlCol="0">
            <a:spAutoFit/>
          </a:bodyPr>
          <a:lstStyle/>
          <a:p>
            <a:r>
              <a:rPr lang="en-US" sz="1200" dirty="0"/>
              <a:t>Before the pandemic, job vacancy rates (number of job vacancies as a percentage of total jobs) was highest outside of the Seven County metro. Finding workers was the number one priority for workforce development organizations in rural Minnesota. Not surprisingly, the pandemic has impacted job vacancies. The job vacancy rate between September and October of 2020 is about 2 percentage points less compared to the average in 2019. However, there are still employment opportunities, particularly in our rural parts of the state.</a:t>
            </a:r>
          </a:p>
        </p:txBody>
      </p:sp>
      <p:pic>
        <p:nvPicPr>
          <p:cNvPr id="13" name="Picture 12">
            <a:extLst>
              <a:ext uri="{FF2B5EF4-FFF2-40B4-BE49-F238E27FC236}">
                <a16:creationId xmlns:a16="http://schemas.microsoft.com/office/drawing/2014/main" id="{2ED1C04F-3504-274A-9F0F-F908E1B7C45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42995" y="2438639"/>
            <a:ext cx="5486400" cy="2743200"/>
          </a:xfrm>
          <a:prstGeom prst="rect">
            <a:avLst/>
          </a:prstGeom>
        </p:spPr>
      </p:pic>
      <p:pic>
        <p:nvPicPr>
          <p:cNvPr id="19" name="Picture 18">
            <a:extLst>
              <a:ext uri="{FF2B5EF4-FFF2-40B4-BE49-F238E27FC236}">
                <a16:creationId xmlns:a16="http://schemas.microsoft.com/office/drawing/2014/main" id="{585B0F30-4460-9047-B783-0A10481950B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14395" y="6678510"/>
            <a:ext cx="5943600" cy="2743200"/>
          </a:xfrm>
          <a:prstGeom prst="rect">
            <a:avLst/>
          </a:prstGeom>
        </p:spPr>
      </p:pic>
    </p:spTree>
    <p:extLst>
      <p:ext uri="{BB962C8B-B14F-4D97-AF65-F5344CB8AC3E}">
        <p14:creationId xmlns:p14="http://schemas.microsoft.com/office/powerpoint/2010/main" val="39530213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CD9D03F-94CF-4AD9-B390-47F993B9D8D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5562" y="336728"/>
            <a:ext cx="3585412" cy="1090990"/>
          </a:xfrm>
          <a:prstGeom prst="rect">
            <a:avLst/>
          </a:prstGeom>
        </p:spPr>
      </p:pic>
      <p:sp>
        <p:nvSpPr>
          <p:cNvPr id="10" name="TextBox 9">
            <a:extLst>
              <a:ext uri="{FF2B5EF4-FFF2-40B4-BE49-F238E27FC236}">
                <a16:creationId xmlns:a16="http://schemas.microsoft.com/office/drawing/2014/main" id="{8E710B93-9E6C-4D2C-8B5C-D153DC9B2EC3}"/>
              </a:ext>
            </a:extLst>
          </p:cNvPr>
          <p:cNvSpPr txBox="1"/>
          <p:nvPr/>
        </p:nvSpPr>
        <p:spPr>
          <a:xfrm>
            <a:off x="4180974" y="573402"/>
            <a:ext cx="2995863" cy="892552"/>
          </a:xfrm>
          <a:prstGeom prst="rect">
            <a:avLst/>
          </a:prstGeom>
          <a:noFill/>
        </p:spPr>
        <p:txBody>
          <a:bodyPr wrap="square" rtlCol="0">
            <a:spAutoFit/>
          </a:bodyPr>
          <a:lstStyle/>
          <a:p>
            <a:pPr algn="r"/>
            <a:r>
              <a:rPr lang="en-US" sz="1200" dirty="0">
                <a:latin typeface="Helvetica Neue" panose="02000503000000020004" pitchFamily="2" charset="0"/>
                <a:ea typeface="Helvetica Neue" panose="02000503000000020004" pitchFamily="2" charset="0"/>
                <a:cs typeface="Helvetica Neue" panose="02000503000000020004" pitchFamily="2" charset="0"/>
              </a:rPr>
              <a:t>P.O. Box 3185</a:t>
            </a:r>
          </a:p>
          <a:p>
            <a:pPr algn="r"/>
            <a:r>
              <a:rPr lang="en-US" sz="1200" dirty="0">
                <a:latin typeface="Helvetica Neue" panose="02000503000000020004" pitchFamily="2" charset="0"/>
                <a:ea typeface="Helvetica Neue" panose="02000503000000020004" pitchFamily="2" charset="0"/>
                <a:cs typeface="Helvetica Neue" panose="02000503000000020004" pitchFamily="2" charset="0"/>
              </a:rPr>
              <a:t>Mankato, MN 56002-3185</a:t>
            </a:r>
          </a:p>
          <a:p>
            <a:pPr algn="r"/>
            <a:r>
              <a:rPr lang="en-US" sz="1200" dirty="0">
                <a:latin typeface="Helvetica Neue" panose="02000503000000020004" pitchFamily="2" charset="0"/>
                <a:ea typeface="Helvetica Neue" panose="02000503000000020004" pitchFamily="2" charset="0"/>
                <a:cs typeface="Helvetica Neue" panose="02000503000000020004" pitchFamily="2" charset="0"/>
              </a:rPr>
              <a:t>(507) 934-7700</a:t>
            </a:r>
            <a:endParaRPr lang="en-US" dirty="0">
              <a:latin typeface="Helvetica Neue" panose="02000503000000020004" pitchFamily="2" charset="0"/>
              <a:ea typeface="Helvetica Neue" panose="02000503000000020004" pitchFamily="2" charset="0"/>
              <a:cs typeface="Helvetica Neue" panose="02000503000000020004" pitchFamily="2" charset="0"/>
            </a:endParaRPr>
          </a:p>
          <a:p>
            <a:pPr algn="r"/>
            <a:r>
              <a:rPr lang="en-US" sz="1600" b="1" dirty="0">
                <a:latin typeface="Helvetica Neue" panose="02000503000000020004" pitchFamily="2" charset="0"/>
                <a:ea typeface="Helvetica Neue" panose="02000503000000020004" pitchFamily="2" charset="0"/>
                <a:cs typeface="Helvetica Neue" panose="02000503000000020004" pitchFamily="2" charset="0"/>
              </a:rPr>
              <a:t>www.ruralmn.org</a:t>
            </a:r>
          </a:p>
        </p:txBody>
      </p:sp>
      <p:sp>
        <p:nvSpPr>
          <p:cNvPr id="11" name="TextBox 10">
            <a:extLst>
              <a:ext uri="{FF2B5EF4-FFF2-40B4-BE49-F238E27FC236}">
                <a16:creationId xmlns:a16="http://schemas.microsoft.com/office/drawing/2014/main" id="{6E97091E-5979-4756-BC28-304BDCE80E7A}"/>
              </a:ext>
            </a:extLst>
          </p:cNvPr>
          <p:cNvSpPr txBox="1"/>
          <p:nvPr/>
        </p:nvSpPr>
        <p:spPr>
          <a:xfrm>
            <a:off x="1254206" y="9508221"/>
            <a:ext cx="5263979" cy="292388"/>
          </a:xfrm>
          <a:prstGeom prst="rect">
            <a:avLst/>
          </a:prstGeom>
          <a:noFill/>
        </p:spPr>
        <p:txBody>
          <a:bodyPr wrap="square" rtlCol="0">
            <a:spAutoFit/>
          </a:bodyPr>
          <a:lstStyle/>
          <a:p>
            <a:pPr algn="ctr"/>
            <a:r>
              <a:rPr lang="en-US" sz="1300" dirty="0">
                <a:latin typeface="Helvetica Neue" panose="02000503000000020004" pitchFamily="2" charset="0"/>
                <a:ea typeface="Helvetica Neue" panose="02000503000000020004" pitchFamily="2" charset="0"/>
                <a:cs typeface="Helvetica Neue" panose="02000503000000020004" pitchFamily="2" charset="0"/>
              </a:rPr>
              <a:t>To read the full report, visit our website at </a:t>
            </a:r>
            <a:r>
              <a:rPr lang="en-US" sz="1300" dirty="0">
                <a:solidFill>
                  <a:schemeClr val="accent6">
                    <a:lumMod val="75000"/>
                  </a:schemeClr>
                </a:solidFill>
                <a:latin typeface="Helvetica Neue" panose="02000503000000020004" pitchFamily="2" charset="0"/>
                <a:ea typeface="Helvetica Neue" panose="02000503000000020004" pitchFamily="2" charset="0"/>
                <a:cs typeface="Helvetica Neue" panose="02000503000000020004" pitchFamily="2" charset="0"/>
                <a:hlinkClick r:id="rId3">
                  <a:extLst>
                    <a:ext uri="{A12FA001-AC4F-418D-AE19-62706E023703}">
                      <ahyp:hlinkClr xmlns:ahyp="http://schemas.microsoft.com/office/drawing/2018/hyperlinkcolor" val="tx"/>
                    </a:ext>
                  </a:extLst>
                </a:hlinkClick>
              </a:rPr>
              <a:t>ruralmn.org</a:t>
            </a:r>
            <a:r>
              <a:rPr lang="en-US" sz="1300" dirty="0">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3" name="TextBox 12">
            <a:extLst>
              <a:ext uri="{FF2B5EF4-FFF2-40B4-BE49-F238E27FC236}">
                <a16:creationId xmlns:a16="http://schemas.microsoft.com/office/drawing/2014/main" id="{4DD8B102-9E43-CE4A-B164-39915FF4F65F}"/>
              </a:ext>
            </a:extLst>
          </p:cNvPr>
          <p:cNvSpPr txBox="1"/>
          <p:nvPr/>
        </p:nvSpPr>
        <p:spPr>
          <a:xfrm>
            <a:off x="595559" y="1702628"/>
            <a:ext cx="6581275" cy="477054"/>
          </a:xfrm>
          <a:prstGeom prst="rect">
            <a:avLst/>
          </a:prstGeom>
          <a:noFill/>
        </p:spPr>
        <p:txBody>
          <a:bodyPr wrap="square" rtlCol="0">
            <a:spAutoFit/>
          </a:bodyPr>
          <a:lstStyle/>
          <a:p>
            <a:pPr algn="ctr"/>
            <a:r>
              <a:rPr lang="en-US" sz="2500" i="1" dirty="0">
                <a:solidFill>
                  <a:srgbClr val="076324"/>
                </a:solidFill>
                <a:latin typeface="Helvetica Neue Light" panose="02000403000000020004" pitchFamily="2" charset="0"/>
                <a:ea typeface="Helvetica Neue Light" panose="02000403000000020004" pitchFamily="2" charset="0"/>
                <a:cs typeface="Helvetica Neue" panose="02000503000000020004" pitchFamily="2" charset="0"/>
              </a:rPr>
              <a:t>COVID-19 impacts on rural the rural workforce</a:t>
            </a:r>
            <a:endParaRPr lang="en-US" sz="2000" i="1" dirty="0">
              <a:solidFill>
                <a:srgbClr val="076324"/>
              </a:solidFill>
              <a:latin typeface="Helvetica Neue Light" panose="02000403000000020004" pitchFamily="2" charset="0"/>
              <a:ea typeface="Helvetica Neue Light" panose="02000403000000020004" pitchFamily="2" charset="0"/>
              <a:cs typeface="Helvetica Neue" panose="02000503000000020004" pitchFamily="2" charset="0"/>
            </a:endParaRPr>
          </a:p>
        </p:txBody>
      </p:sp>
      <p:pic>
        <p:nvPicPr>
          <p:cNvPr id="7" name="Picture 6">
            <a:extLst>
              <a:ext uri="{FF2B5EF4-FFF2-40B4-BE49-F238E27FC236}">
                <a16:creationId xmlns:a16="http://schemas.microsoft.com/office/drawing/2014/main" id="{D77B46A5-36AB-0343-9F85-4372315FEA6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14395" y="2454592"/>
            <a:ext cx="5943600" cy="3657600"/>
          </a:xfrm>
          <a:prstGeom prst="rect">
            <a:avLst/>
          </a:prstGeom>
        </p:spPr>
      </p:pic>
      <p:sp>
        <p:nvSpPr>
          <p:cNvPr id="8" name="TextBox 7">
            <a:extLst>
              <a:ext uri="{FF2B5EF4-FFF2-40B4-BE49-F238E27FC236}">
                <a16:creationId xmlns:a16="http://schemas.microsoft.com/office/drawing/2014/main" id="{95916FD0-C4A3-344A-891C-E1071D7D8BBE}"/>
              </a:ext>
            </a:extLst>
          </p:cNvPr>
          <p:cNvSpPr txBox="1"/>
          <p:nvPr/>
        </p:nvSpPr>
        <p:spPr>
          <a:xfrm>
            <a:off x="914396" y="6435090"/>
            <a:ext cx="6262438" cy="2308324"/>
          </a:xfrm>
          <a:prstGeom prst="rect">
            <a:avLst/>
          </a:prstGeom>
          <a:noFill/>
        </p:spPr>
        <p:txBody>
          <a:bodyPr wrap="square" rtlCol="0">
            <a:spAutoFit/>
          </a:bodyPr>
          <a:lstStyle/>
          <a:p>
            <a:r>
              <a:rPr lang="en-US" sz="1200" dirty="0"/>
              <a:t>The chart above provides the number of weekly unique job postings as a percent of weekly continuous unemployment claims. The weekly job postings are making an increasingly larger share of unemployment claims since September. Most regions outside of the Seven County Metro have a higher percentage. In fact, in Southwest Minnesota there were more weekly job postings than continuous unemployment claims by the end of October.</a:t>
            </a:r>
          </a:p>
          <a:p>
            <a:endParaRPr lang="en-US" sz="1200" dirty="0"/>
          </a:p>
          <a:p>
            <a:r>
              <a:rPr lang="en-US" sz="1200" dirty="0"/>
              <a:t>However, not every person unemployed can simply take any job available. Training and experience is needed for many employment opportunities in our regions. Therefore, it’s important to assess in which occupations there are job opportunities and the labor pool that exists in that occupation. And interviews with our Workforce Development Boards in Greater Minnesota have indicated an interesting situation where they are dealing with exactly this issue. The occupation of our unemployed individuals don’t exactly match with the job opportunities available.</a:t>
            </a:r>
          </a:p>
        </p:txBody>
      </p:sp>
    </p:spTree>
    <p:extLst>
      <p:ext uri="{BB962C8B-B14F-4D97-AF65-F5344CB8AC3E}">
        <p14:creationId xmlns:p14="http://schemas.microsoft.com/office/powerpoint/2010/main" val="15621055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CD9D03F-94CF-4AD9-B390-47F993B9D8D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5562" y="336728"/>
            <a:ext cx="3585412" cy="1090990"/>
          </a:xfrm>
          <a:prstGeom prst="rect">
            <a:avLst/>
          </a:prstGeom>
        </p:spPr>
      </p:pic>
      <p:sp>
        <p:nvSpPr>
          <p:cNvPr id="10" name="TextBox 9">
            <a:extLst>
              <a:ext uri="{FF2B5EF4-FFF2-40B4-BE49-F238E27FC236}">
                <a16:creationId xmlns:a16="http://schemas.microsoft.com/office/drawing/2014/main" id="{8E710B93-9E6C-4D2C-8B5C-D153DC9B2EC3}"/>
              </a:ext>
            </a:extLst>
          </p:cNvPr>
          <p:cNvSpPr txBox="1"/>
          <p:nvPr/>
        </p:nvSpPr>
        <p:spPr>
          <a:xfrm>
            <a:off x="4180974" y="573402"/>
            <a:ext cx="2995863" cy="892552"/>
          </a:xfrm>
          <a:prstGeom prst="rect">
            <a:avLst/>
          </a:prstGeom>
          <a:noFill/>
        </p:spPr>
        <p:txBody>
          <a:bodyPr wrap="square" rtlCol="0">
            <a:spAutoFit/>
          </a:bodyPr>
          <a:lstStyle/>
          <a:p>
            <a:pPr algn="r"/>
            <a:r>
              <a:rPr lang="en-US" sz="1200" dirty="0">
                <a:latin typeface="Helvetica Neue" panose="02000503000000020004" pitchFamily="2" charset="0"/>
                <a:ea typeface="Helvetica Neue" panose="02000503000000020004" pitchFamily="2" charset="0"/>
                <a:cs typeface="Helvetica Neue" panose="02000503000000020004" pitchFamily="2" charset="0"/>
              </a:rPr>
              <a:t>P.O. Box 3185</a:t>
            </a:r>
          </a:p>
          <a:p>
            <a:pPr algn="r"/>
            <a:r>
              <a:rPr lang="en-US" sz="1200" dirty="0">
                <a:latin typeface="Helvetica Neue" panose="02000503000000020004" pitchFamily="2" charset="0"/>
                <a:ea typeface="Helvetica Neue" panose="02000503000000020004" pitchFamily="2" charset="0"/>
                <a:cs typeface="Helvetica Neue" panose="02000503000000020004" pitchFamily="2" charset="0"/>
              </a:rPr>
              <a:t>Mankato, MN 56002-3185</a:t>
            </a:r>
          </a:p>
          <a:p>
            <a:pPr algn="r"/>
            <a:r>
              <a:rPr lang="en-US" sz="1200" dirty="0">
                <a:latin typeface="Helvetica Neue" panose="02000503000000020004" pitchFamily="2" charset="0"/>
                <a:ea typeface="Helvetica Neue" panose="02000503000000020004" pitchFamily="2" charset="0"/>
                <a:cs typeface="Helvetica Neue" panose="02000503000000020004" pitchFamily="2" charset="0"/>
              </a:rPr>
              <a:t>(507) 934-7700</a:t>
            </a:r>
            <a:endParaRPr lang="en-US" dirty="0">
              <a:latin typeface="Helvetica Neue" panose="02000503000000020004" pitchFamily="2" charset="0"/>
              <a:ea typeface="Helvetica Neue" panose="02000503000000020004" pitchFamily="2" charset="0"/>
              <a:cs typeface="Helvetica Neue" panose="02000503000000020004" pitchFamily="2" charset="0"/>
            </a:endParaRPr>
          </a:p>
          <a:p>
            <a:pPr algn="r"/>
            <a:r>
              <a:rPr lang="en-US" sz="1600" b="1" dirty="0">
                <a:latin typeface="Helvetica Neue" panose="02000503000000020004" pitchFamily="2" charset="0"/>
                <a:ea typeface="Helvetica Neue" panose="02000503000000020004" pitchFamily="2" charset="0"/>
                <a:cs typeface="Helvetica Neue" panose="02000503000000020004" pitchFamily="2" charset="0"/>
              </a:rPr>
              <a:t>www.ruralmn.org</a:t>
            </a:r>
          </a:p>
        </p:txBody>
      </p:sp>
      <p:sp>
        <p:nvSpPr>
          <p:cNvPr id="11" name="TextBox 10">
            <a:extLst>
              <a:ext uri="{FF2B5EF4-FFF2-40B4-BE49-F238E27FC236}">
                <a16:creationId xmlns:a16="http://schemas.microsoft.com/office/drawing/2014/main" id="{6E97091E-5979-4756-BC28-304BDCE80E7A}"/>
              </a:ext>
            </a:extLst>
          </p:cNvPr>
          <p:cNvSpPr txBox="1"/>
          <p:nvPr/>
        </p:nvSpPr>
        <p:spPr>
          <a:xfrm>
            <a:off x="1254206" y="9508221"/>
            <a:ext cx="5263979" cy="292388"/>
          </a:xfrm>
          <a:prstGeom prst="rect">
            <a:avLst/>
          </a:prstGeom>
          <a:noFill/>
        </p:spPr>
        <p:txBody>
          <a:bodyPr wrap="square" rtlCol="0">
            <a:spAutoFit/>
          </a:bodyPr>
          <a:lstStyle/>
          <a:p>
            <a:pPr algn="ctr"/>
            <a:r>
              <a:rPr lang="en-US" sz="1300" dirty="0">
                <a:latin typeface="Helvetica Neue" panose="02000503000000020004" pitchFamily="2" charset="0"/>
                <a:ea typeface="Helvetica Neue" panose="02000503000000020004" pitchFamily="2" charset="0"/>
                <a:cs typeface="Helvetica Neue" panose="02000503000000020004" pitchFamily="2" charset="0"/>
              </a:rPr>
              <a:t>To read the full report, visit our website at </a:t>
            </a:r>
            <a:r>
              <a:rPr lang="en-US" sz="1300" dirty="0">
                <a:solidFill>
                  <a:schemeClr val="accent6">
                    <a:lumMod val="75000"/>
                  </a:schemeClr>
                </a:solidFill>
                <a:latin typeface="Helvetica Neue" panose="02000503000000020004" pitchFamily="2" charset="0"/>
                <a:ea typeface="Helvetica Neue" panose="02000503000000020004" pitchFamily="2" charset="0"/>
                <a:cs typeface="Helvetica Neue" panose="02000503000000020004" pitchFamily="2" charset="0"/>
                <a:hlinkClick r:id="rId3">
                  <a:extLst>
                    <a:ext uri="{A12FA001-AC4F-418D-AE19-62706E023703}">
                      <ahyp:hlinkClr xmlns:ahyp="http://schemas.microsoft.com/office/drawing/2018/hyperlinkcolor" val="tx"/>
                    </a:ext>
                  </a:extLst>
                </a:hlinkClick>
              </a:rPr>
              <a:t>ruralmn.org</a:t>
            </a:r>
            <a:r>
              <a:rPr lang="en-US" sz="1300" dirty="0">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3" name="TextBox 12">
            <a:extLst>
              <a:ext uri="{FF2B5EF4-FFF2-40B4-BE49-F238E27FC236}">
                <a16:creationId xmlns:a16="http://schemas.microsoft.com/office/drawing/2014/main" id="{4DD8B102-9E43-CE4A-B164-39915FF4F65F}"/>
              </a:ext>
            </a:extLst>
          </p:cNvPr>
          <p:cNvSpPr txBox="1"/>
          <p:nvPr/>
        </p:nvSpPr>
        <p:spPr>
          <a:xfrm>
            <a:off x="595559" y="1702628"/>
            <a:ext cx="6581275" cy="477054"/>
          </a:xfrm>
          <a:prstGeom prst="rect">
            <a:avLst/>
          </a:prstGeom>
          <a:noFill/>
        </p:spPr>
        <p:txBody>
          <a:bodyPr wrap="square" rtlCol="0">
            <a:spAutoFit/>
          </a:bodyPr>
          <a:lstStyle/>
          <a:p>
            <a:pPr algn="ctr"/>
            <a:r>
              <a:rPr lang="en-US" sz="2500" i="1" dirty="0">
                <a:solidFill>
                  <a:srgbClr val="076324"/>
                </a:solidFill>
                <a:latin typeface="Helvetica Neue Light" panose="02000403000000020004" pitchFamily="2" charset="0"/>
                <a:ea typeface="Helvetica Neue Light" panose="02000403000000020004" pitchFamily="2" charset="0"/>
                <a:cs typeface="Helvetica Neue" panose="02000503000000020004" pitchFamily="2" charset="0"/>
              </a:rPr>
              <a:t>COVID-19 impacts on rural the rural workforce</a:t>
            </a:r>
            <a:endParaRPr lang="en-US" sz="2000" i="1" dirty="0">
              <a:solidFill>
                <a:srgbClr val="076324"/>
              </a:solidFill>
              <a:latin typeface="Helvetica Neue Light" panose="02000403000000020004" pitchFamily="2" charset="0"/>
              <a:ea typeface="Helvetica Neue Light" panose="02000403000000020004" pitchFamily="2" charset="0"/>
              <a:cs typeface="Helvetica Neue" panose="02000503000000020004" pitchFamily="2" charset="0"/>
            </a:endParaRPr>
          </a:p>
        </p:txBody>
      </p:sp>
      <p:sp>
        <p:nvSpPr>
          <p:cNvPr id="7" name="TextBox 6">
            <a:extLst>
              <a:ext uri="{FF2B5EF4-FFF2-40B4-BE49-F238E27FC236}">
                <a16:creationId xmlns:a16="http://schemas.microsoft.com/office/drawing/2014/main" id="{A56BA58B-5844-0842-88D2-43D223605E19}"/>
              </a:ext>
            </a:extLst>
          </p:cNvPr>
          <p:cNvSpPr txBox="1"/>
          <p:nvPr/>
        </p:nvSpPr>
        <p:spPr>
          <a:xfrm>
            <a:off x="595559" y="2522648"/>
            <a:ext cx="6581275" cy="2308324"/>
          </a:xfrm>
          <a:prstGeom prst="rect">
            <a:avLst/>
          </a:prstGeom>
          <a:noFill/>
        </p:spPr>
        <p:txBody>
          <a:bodyPr wrap="square" rtlCol="0">
            <a:spAutoFit/>
          </a:bodyPr>
          <a:lstStyle/>
          <a:p>
            <a:r>
              <a:rPr lang="en-US" sz="1200" dirty="0"/>
              <a:t>There are job postings for nearly all occupations across all of Minnesota. However, that doesn’t mean there isn’t a pool of workers available. For example, in Northern Minnesota one of the highest number of job postings is for food preparation and serving related occupations. Yet, this is also one of the highest occupations of people filing continuous unemployment claims. Therefore, there is a labor pool within those occupations so it’s up to the businesses to entice them back into the workforce. This isn’t the case for many occupations though, particularly in rural areas of the state.</a:t>
            </a:r>
          </a:p>
          <a:p>
            <a:endParaRPr lang="en-US" sz="1200" dirty="0"/>
          </a:p>
          <a:p>
            <a:r>
              <a:rPr lang="en-US" sz="1200" dirty="0"/>
              <a:t>The chart below provides the number of occupations (there are 23 total) that have more job postings than people filing continuous unemployment claims. The largest increases in the number of job vacancies with workforce shortages appear in southern Minnesota (Southwest &amp; Southeast). The regions with the lowest number of occupations experiencing workforce shortages are the Seven County metro and Central Minnesota.</a:t>
            </a:r>
          </a:p>
        </p:txBody>
      </p:sp>
      <p:pic>
        <p:nvPicPr>
          <p:cNvPr id="12" name="Picture 11">
            <a:extLst>
              <a:ext uri="{FF2B5EF4-FFF2-40B4-BE49-F238E27FC236}">
                <a16:creationId xmlns:a16="http://schemas.microsoft.com/office/drawing/2014/main" id="{B38F6907-EF96-FD47-8046-5200FBADFAC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14395" y="4883596"/>
            <a:ext cx="5943600" cy="4572000"/>
          </a:xfrm>
          <a:prstGeom prst="rect">
            <a:avLst/>
          </a:prstGeom>
        </p:spPr>
      </p:pic>
    </p:spTree>
    <p:extLst>
      <p:ext uri="{BB962C8B-B14F-4D97-AF65-F5344CB8AC3E}">
        <p14:creationId xmlns:p14="http://schemas.microsoft.com/office/powerpoint/2010/main" val="11713622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CD9D03F-94CF-4AD9-B390-47F993B9D8D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5562" y="336728"/>
            <a:ext cx="3585412" cy="1090990"/>
          </a:xfrm>
          <a:prstGeom prst="rect">
            <a:avLst/>
          </a:prstGeom>
        </p:spPr>
      </p:pic>
      <p:sp>
        <p:nvSpPr>
          <p:cNvPr id="10" name="TextBox 9">
            <a:extLst>
              <a:ext uri="{FF2B5EF4-FFF2-40B4-BE49-F238E27FC236}">
                <a16:creationId xmlns:a16="http://schemas.microsoft.com/office/drawing/2014/main" id="{8E710B93-9E6C-4D2C-8B5C-D153DC9B2EC3}"/>
              </a:ext>
            </a:extLst>
          </p:cNvPr>
          <p:cNvSpPr txBox="1"/>
          <p:nvPr/>
        </p:nvSpPr>
        <p:spPr>
          <a:xfrm>
            <a:off x="4180974" y="573402"/>
            <a:ext cx="2995863" cy="892552"/>
          </a:xfrm>
          <a:prstGeom prst="rect">
            <a:avLst/>
          </a:prstGeom>
          <a:noFill/>
        </p:spPr>
        <p:txBody>
          <a:bodyPr wrap="square" rtlCol="0">
            <a:spAutoFit/>
          </a:bodyPr>
          <a:lstStyle/>
          <a:p>
            <a:pPr algn="r"/>
            <a:r>
              <a:rPr lang="en-US" sz="1200" dirty="0">
                <a:latin typeface="Helvetica Neue" panose="02000503000000020004" pitchFamily="2" charset="0"/>
                <a:ea typeface="Helvetica Neue" panose="02000503000000020004" pitchFamily="2" charset="0"/>
                <a:cs typeface="Helvetica Neue" panose="02000503000000020004" pitchFamily="2" charset="0"/>
              </a:rPr>
              <a:t>P.O. Box 3185</a:t>
            </a:r>
          </a:p>
          <a:p>
            <a:pPr algn="r"/>
            <a:r>
              <a:rPr lang="en-US" sz="1200" dirty="0">
                <a:latin typeface="Helvetica Neue" panose="02000503000000020004" pitchFamily="2" charset="0"/>
                <a:ea typeface="Helvetica Neue" panose="02000503000000020004" pitchFamily="2" charset="0"/>
                <a:cs typeface="Helvetica Neue" panose="02000503000000020004" pitchFamily="2" charset="0"/>
              </a:rPr>
              <a:t>Mankato, MN 56002-3185</a:t>
            </a:r>
          </a:p>
          <a:p>
            <a:pPr algn="r"/>
            <a:r>
              <a:rPr lang="en-US" sz="1200" dirty="0">
                <a:latin typeface="Helvetica Neue" panose="02000503000000020004" pitchFamily="2" charset="0"/>
                <a:ea typeface="Helvetica Neue" panose="02000503000000020004" pitchFamily="2" charset="0"/>
                <a:cs typeface="Helvetica Neue" panose="02000503000000020004" pitchFamily="2" charset="0"/>
              </a:rPr>
              <a:t>(507) 934-7700</a:t>
            </a:r>
            <a:endParaRPr lang="en-US" dirty="0">
              <a:latin typeface="Helvetica Neue" panose="02000503000000020004" pitchFamily="2" charset="0"/>
              <a:ea typeface="Helvetica Neue" panose="02000503000000020004" pitchFamily="2" charset="0"/>
              <a:cs typeface="Helvetica Neue" panose="02000503000000020004" pitchFamily="2" charset="0"/>
            </a:endParaRPr>
          </a:p>
          <a:p>
            <a:pPr algn="r"/>
            <a:r>
              <a:rPr lang="en-US" sz="1600" b="1" dirty="0">
                <a:latin typeface="Helvetica Neue" panose="02000503000000020004" pitchFamily="2" charset="0"/>
                <a:ea typeface="Helvetica Neue" panose="02000503000000020004" pitchFamily="2" charset="0"/>
                <a:cs typeface="Helvetica Neue" panose="02000503000000020004" pitchFamily="2" charset="0"/>
              </a:rPr>
              <a:t>www.ruralmn.org</a:t>
            </a:r>
          </a:p>
        </p:txBody>
      </p:sp>
      <p:sp>
        <p:nvSpPr>
          <p:cNvPr id="11" name="TextBox 10">
            <a:extLst>
              <a:ext uri="{FF2B5EF4-FFF2-40B4-BE49-F238E27FC236}">
                <a16:creationId xmlns:a16="http://schemas.microsoft.com/office/drawing/2014/main" id="{6E97091E-5979-4756-BC28-304BDCE80E7A}"/>
              </a:ext>
            </a:extLst>
          </p:cNvPr>
          <p:cNvSpPr txBox="1"/>
          <p:nvPr/>
        </p:nvSpPr>
        <p:spPr>
          <a:xfrm>
            <a:off x="1254206" y="9508221"/>
            <a:ext cx="5263979" cy="292388"/>
          </a:xfrm>
          <a:prstGeom prst="rect">
            <a:avLst/>
          </a:prstGeom>
          <a:noFill/>
        </p:spPr>
        <p:txBody>
          <a:bodyPr wrap="square" rtlCol="0">
            <a:spAutoFit/>
          </a:bodyPr>
          <a:lstStyle/>
          <a:p>
            <a:pPr algn="ctr"/>
            <a:r>
              <a:rPr lang="en-US" sz="1300" dirty="0">
                <a:latin typeface="Helvetica Neue" panose="02000503000000020004" pitchFamily="2" charset="0"/>
                <a:ea typeface="Helvetica Neue" panose="02000503000000020004" pitchFamily="2" charset="0"/>
                <a:cs typeface="Helvetica Neue" panose="02000503000000020004" pitchFamily="2" charset="0"/>
              </a:rPr>
              <a:t>To read the full report, visit our website at </a:t>
            </a:r>
            <a:r>
              <a:rPr lang="en-US" sz="1300" dirty="0">
                <a:solidFill>
                  <a:schemeClr val="accent6">
                    <a:lumMod val="75000"/>
                  </a:schemeClr>
                </a:solidFill>
                <a:latin typeface="Helvetica Neue" panose="02000503000000020004" pitchFamily="2" charset="0"/>
                <a:ea typeface="Helvetica Neue" panose="02000503000000020004" pitchFamily="2" charset="0"/>
                <a:cs typeface="Helvetica Neue" panose="02000503000000020004" pitchFamily="2" charset="0"/>
                <a:hlinkClick r:id="rId3">
                  <a:extLst>
                    <a:ext uri="{A12FA001-AC4F-418D-AE19-62706E023703}">
                      <ahyp:hlinkClr xmlns:ahyp="http://schemas.microsoft.com/office/drawing/2018/hyperlinkcolor" val="tx"/>
                    </a:ext>
                  </a:extLst>
                </a:hlinkClick>
              </a:rPr>
              <a:t>ruralmn.org</a:t>
            </a:r>
            <a:r>
              <a:rPr lang="en-US" sz="1300" dirty="0">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3" name="TextBox 12">
            <a:extLst>
              <a:ext uri="{FF2B5EF4-FFF2-40B4-BE49-F238E27FC236}">
                <a16:creationId xmlns:a16="http://schemas.microsoft.com/office/drawing/2014/main" id="{4DD8B102-9E43-CE4A-B164-39915FF4F65F}"/>
              </a:ext>
            </a:extLst>
          </p:cNvPr>
          <p:cNvSpPr txBox="1"/>
          <p:nvPr/>
        </p:nvSpPr>
        <p:spPr>
          <a:xfrm>
            <a:off x="595559" y="1702628"/>
            <a:ext cx="6581275" cy="477054"/>
          </a:xfrm>
          <a:prstGeom prst="rect">
            <a:avLst/>
          </a:prstGeom>
          <a:noFill/>
        </p:spPr>
        <p:txBody>
          <a:bodyPr wrap="square" rtlCol="0">
            <a:spAutoFit/>
          </a:bodyPr>
          <a:lstStyle/>
          <a:p>
            <a:pPr algn="ctr"/>
            <a:r>
              <a:rPr lang="en-US" sz="2500" i="1" dirty="0">
                <a:solidFill>
                  <a:srgbClr val="076324"/>
                </a:solidFill>
                <a:latin typeface="Helvetica Neue Light" panose="02000403000000020004" pitchFamily="2" charset="0"/>
                <a:ea typeface="Helvetica Neue Light" panose="02000403000000020004" pitchFamily="2" charset="0"/>
                <a:cs typeface="Helvetica Neue" panose="02000503000000020004" pitchFamily="2" charset="0"/>
              </a:rPr>
              <a:t>COVID-19 impacts on rural the rural workforce</a:t>
            </a:r>
            <a:endParaRPr lang="en-US" sz="2000" i="1" dirty="0">
              <a:solidFill>
                <a:srgbClr val="076324"/>
              </a:solidFill>
              <a:latin typeface="Helvetica Neue Light" panose="02000403000000020004" pitchFamily="2" charset="0"/>
              <a:ea typeface="Helvetica Neue Light" panose="02000403000000020004" pitchFamily="2" charset="0"/>
              <a:cs typeface="Helvetica Neue" panose="02000503000000020004" pitchFamily="2" charset="0"/>
            </a:endParaRPr>
          </a:p>
        </p:txBody>
      </p:sp>
      <p:sp>
        <p:nvSpPr>
          <p:cNvPr id="7" name="TextBox 6">
            <a:extLst>
              <a:ext uri="{FF2B5EF4-FFF2-40B4-BE49-F238E27FC236}">
                <a16:creationId xmlns:a16="http://schemas.microsoft.com/office/drawing/2014/main" id="{A56BA58B-5844-0842-88D2-43D223605E19}"/>
              </a:ext>
            </a:extLst>
          </p:cNvPr>
          <p:cNvSpPr txBox="1"/>
          <p:nvPr/>
        </p:nvSpPr>
        <p:spPr>
          <a:xfrm>
            <a:off x="595559" y="2522648"/>
            <a:ext cx="6581275" cy="1015663"/>
          </a:xfrm>
          <a:prstGeom prst="rect">
            <a:avLst/>
          </a:prstGeom>
          <a:noFill/>
        </p:spPr>
        <p:txBody>
          <a:bodyPr wrap="square" rtlCol="0">
            <a:spAutoFit/>
          </a:bodyPr>
          <a:lstStyle/>
          <a:p>
            <a:r>
              <a:rPr lang="en-US" sz="1200" dirty="0"/>
              <a:t>Across all of Minnesota, there is currently a significant shortage of individuals in the healthcare practitioners and technical occupations. This occupation was listed in the top-5 labor force shortage occupations in every Economic Development Region in the state.  Beyond that, however, there was significant nuance in occupations experiencing workforce shortages. Here is a list of occupations that are experiencing labor force shortages throughout Greater Minnesota.</a:t>
            </a:r>
          </a:p>
        </p:txBody>
      </p:sp>
      <p:pic>
        <p:nvPicPr>
          <p:cNvPr id="3" name="Graphic 2" descr="Truck">
            <a:extLst>
              <a:ext uri="{FF2B5EF4-FFF2-40B4-BE49-F238E27FC236}">
                <a16:creationId xmlns:a16="http://schemas.microsoft.com/office/drawing/2014/main" id="{82849665-B3DC-EE4B-B7B0-0752DBA42D7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97006" y="3793037"/>
            <a:ext cx="914400" cy="914400"/>
          </a:xfrm>
          <a:prstGeom prst="rect">
            <a:avLst/>
          </a:prstGeom>
        </p:spPr>
      </p:pic>
      <p:sp>
        <p:nvSpPr>
          <p:cNvPr id="4" name="TextBox 3">
            <a:extLst>
              <a:ext uri="{FF2B5EF4-FFF2-40B4-BE49-F238E27FC236}">
                <a16:creationId xmlns:a16="http://schemas.microsoft.com/office/drawing/2014/main" id="{2C923F8E-3D72-1646-96C5-8F002E6EC903}"/>
              </a:ext>
            </a:extLst>
          </p:cNvPr>
          <p:cNvSpPr txBox="1"/>
          <p:nvPr/>
        </p:nvSpPr>
        <p:spPr>
          <a:xfrm>
            <a:off x="1885950" y="3927071"/>
            <a:ext cx="5290884" cy="646331"/>
          </a:xfrm>
          <a:prstGeom prst="rect">
            <a:avLst/>
          </a:prstGeom>
          <a:noFill/>
        </p:spPr>
        <p:txBody>
          <a:bodyPr wrap="square" rtlCol="0">
            <a:spAutoFit/>
          </a:bodyPr>
          <a:lstStyle/>
          <a:p>
            <a:r>
              <a:rPr lang="en-US" sz="1200" b="1" dirty="0"/>
              <a:t>Transportation and material moving</a:t>
            </a:r>
            <a:r>
              <a:rPr lang="en-US" sz="1200" dirty="0"/>
              <a:t>: Shortages in this occupation were particularly prevalent in the western side of Minnesota such as Northwest and Southwest planning regions.</a:t>
            </a:r>
          </a:p>
        </p:txBody>
      </p:sp>
      <p:pic>
        <p:nvPicPr>
          <p:cNvPr id="14" name="Graphic 13" descr="Production">
            <a:extLst>
              <a:ext uri="{FF2B5EF4-FFF2-40B4-BE49-F238E27FC236}">
                <a16:creationId xmlns:a16="http://schemas.microsoft.com/office/drawing/2014/main" id="{18E4146E-8B03-DB47-A92E-ABBA4B6B8390}"/>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a:stretch/>
        </p:blipFill>
        <p:spPr>
          <a:xfrm>
            <a:off x="797006" y="4612541"/>
            <a:ext cx="914400" cy="914400"/>
          </a:xfrm>
          <a:prstGeom prst="rect">
            <a:avLst/>
          </a:prstGeom>
        </p:spPr>
      </p:pic>
      <p:sp>
        <p:nvSpPr>
          <p:cNvPr id="15" name="TextBox 14">
            <a:extLst>
              <a:ext uri="{FF2B5EF4-FFF2-40B4-BE49-F238E27FC236}">
                <a16:creationId xmlns:a16="http://schemas.microsoft.com/office/drawing/2014/main" id="{39C012F4-8F36-A14B-B09C-F5398ABFE6CE}"/>
              </a:ext>
            </a:extLst>
          </p:cNvPr>
          <p:cNvSpPr txBox="1"/>
          <p:nvPr/>
        </p:nvSpPr>
        <p:spPr>
          <a:xfrm>
            <a:off x="1885950" y="4838908"/>
            <a:ext cx="5290884" cy="461665"/>
          </a:xfrm>
          <a:prstGeom prst="rect">
            <a:avLst/>
          </a:prstGeom>
          <a:noFill/>
        </p:spPr>
        <p:txBody>
          <a:bodyPr wrap="square" rtlCol="0">
            <a:spAutoFit/>
          </a:bodyPr>
          <a:lstStyle/>
          <a:p>
            <a:r>
              <a:rPr lang="en-US" sz="1200" b="1" dirty="0"/>
              <a:t>Production</a:t>
            </a:r>
            <a:r>
              <a:rPr lang="en-US" sz="1200" dirty="0"/>
              <a:t>: Some of the largest workforce shortages have been in production occupations. This was particularly true in Northwest and Southwest Minnesota.</a:t>
            </a:r>
          </a:p>
        </p:txBody>
      </p:sp>
      <p:sp>
        <p:nvSpPr>
          <p:cNvPr id="17" name="TextBox 16">
            <a:extLst>
              <a:ext uri="{FF2B5EF4-FFF2-40B4-BE49-F238E27FC236}">
                <a16:creationId xmlns:a16="http://schemas.microsoft.com/office/drawing/2014/main" id="{7416B081-84C0-8841-914F-2C736D20624D}"/>
              </a:ext>
            </a:extLst>
          </p:cNvPr>
          <p:cNvSpPr txBox="1"/>
          <p:nvPr/>
        </p:nvSpPr>
        <p:spPr>
          <a:xfrm>
            <a:off x="1885950" y="5753308"/>
            <a:ext cx="5290884" cy="461665"/>
          </a:xfrm>
          <a:prstGeom prst="rect">
            <a:avLst/>
          </a:prstGeom>
          <a:noFill/>
        </p:spPr>
        <p:txBody>
          <a:bodyPr wrap="square" rtlCol="0">
            <a:spAutoFit/>
          </a:bodyPr>
          <a:lstStyle/>
          <a:p>
            <a:r>
              <a:rPr lang="en-US" sz="1200" b="1" dirty="0"/>
              <a:t>Community and social services</a:t>
            </a:r>
            <a:r>
              <a:rPr lang="en-US" sz="1200" dirty="0"/>
              <a:t>: Shortages in this occupation were particularly large in Central Minnesota .</a:t>
            </a:r>
          </a:p>
        </p:txBody>
      </p:sp>
      <p:pic>
        <p:nvPicPr>
          <p:cNvPr id="6" name="Graphic 5" descr="Cycle with people">
            <a:extLst>
              <a:ext uri="{FF2B5EF4-FFF2-40B4-BE49-F238E27FC236}">
                <a16:creationId xmlns:a16="http://schemas.microsoft.com/office/drawing/2014/main" id="{5A41F28E-9BA3-5F42-85FA-CF43E1AFCD28}"/>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797006" y="5526941"/>
            <a:ext cx="914400" cy="914400"/>
          </a:xfrm>
          <a:prstGeom prst="rect">
            <a:avLst/>
          </a:prstGeom>
        </p:spPr>
      </p:pic>
      <p:sp>
        <p:nvSpPr>
          <p:cNvPr id="18" name="TextBox 17">
            <a:extLst>
              <a:ext uri="{FF2B5EF4-FFF2-40B4-BE49-F238E27FC236}">
                <a16:creationId xmlns:a16="http://schemas.microsoft.com/office/drawing/2014/main" id="{98FC1B46-C8A8-CF47-BF07-D3B9BCD96B8D}"/>
              </a:ext>
            </a:extLst>
          </p:cNvPr>
          <p:cNvSpPr txBox="1"/>
          <p:nvPr/>
        </p:nvSpPr>
        <p:spPr>
          <a:xfrm>
            <a:off x="1885950" y="6677097"/>
            <a:ext cx="5290884" cy="461665"/>
          </a:xfrm>
          <a:prstGeom prst="rect">
            <a:avLst/>
          </a:prstGeom>
          <a:noFill/>
        </p:spPr>
        <p:txBody>
          <a:bodyPr wrap="square" rtlCol="0">
            <a:spAutoFit/>
          </a:bodyPr>
          <a:lstStyle/>
          <a:p>
            <a:r>
              <a:rPr lang="en-US" sz="1200" b="1" dirty="0"/>
              <a:t>Farming, fishing and forestry</a:t>
            </a:r>
            <a:r>
              <a:rPr lang="en-US" sz="1200" dirty="0"/>
              <a:t>: Shortages in this occupation were particularly large in Southern Minnesota.</a:t>
            </a:r>
          </a:p>
        </p:txBody>
      </p:sp>
      <p:pic>
        <p:nvPicPr>
          <p:cNvPr id="19" name="Graphic 18" descr="Tractor">
            <a:extLst>
              <a:ext uri="{FF2B5EF4-FFF2-40B4-BE49-F238E27FC236}">
                <a16:creationId xmlns:a16="http://schemas.microsoft.com/office/drawing/2014/main" id="{F25E5D48-0BA5-2D4E-9375-558D453B4B59}"/>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a:stretch/>
        </p:blipFill>
        <p:spPr>
          <a:xfrm>
            <a:off x="797006" y="6450730"/>
            <a:ext cx="914400" cy="914400"/>
          </a:xfrm>
          <a:prstGeom prst="rect">
            <a:avLst/>
          </a:prstGeom>
        </p:spPr>
      </p:pic>
      <p:sp>
        <p:nvSpPr>
          <p:cNvPr id="20" name="TextBox 19">
            <a:extLst>
              <a:ext uri="{FF2B5EF4-FFF2-40B4-BE49-F238E27FC236}">
                <a16:creationId xmlns:a16="http://schemas.microsoft.com/office/drawing/2014/main" id="{D4768A98-5015-2D4B-A175-656203EC8E2D}"/>
              </a:ext>
            </a:extLst>
          </p:cNvPr>
          <p:cNvSpPr txBox="1"/>
          <p:nvPr/>
        </p:nvSpPr>
        <p:spPr>
          <a:xfrm>
            <a:off x="797006" y="7374519"/>
            <a:ext cx="6379828" cy="2123658"/>
          </a:xfrm>
          <a:prstGeom prst="rect">
            <a:avLst/>
          </a:prstGeom>
          <a:noFill/>
        </p:spPr>
        <p:txBody>
          <a:bodyPr wrap="square" rtlCol="0">
            <a:spAutoFit/>
          </a:bodyPr>
          <a:lstStyle/>
          <a:p>
            <a:r>
              <a:rPr lang="en-US" sz="1200" dirty="0"/>
              <a:t>Shortages weren’t just relegated to these occupations either. When breaking it own by EDR, there was a significant amount of variation in which occupations were facing workforce shortages. Other occupations include computer and mathematical, architecture, legal, and other more professional occupations.</a:t>
            </a:r>
          </a:p>
          <a:p>
            <a:endParaRPr lang="en-US" sz="1200" dirty="0"/>
          </a:p>
          <a:p>
            <a:r>
              <a:rPr lang="en-US" sz="1200" dirty="0"/>
              <a:t>What this analysis tells us is that this isn’t a typical “recession” in that there are lots of unemployed with very few job opportunities. The pandemic has been unique in that it has hit a few occupations particularly hard while bolstering other industries and occupations. The state’s approach to dealing with the impacts of the pandemic on the workforce is not only about taking care of our unemployed workers but also finding creative and strategic ways to engage unemployed workers and matching the with other employment opportunities.</a:t>
            </a:r>
          </a:p>
        </p:txBody>
      </p:sp>
    </p:spTree>
    <p:extLst>
      <p:ext uri="{BB962C8B-B14F-4D97-AF65-F5344CB8AC3E}">
        <p14:creationId xmlns:p14="http://schemas.microsoft.com/office/powerpoint/2010/main" val="3951578985"/>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49673</TotalTime>
  <Words>881</Words>
  <Application>Microsoft Macintosh PowerPoint</Application>
  <PresentationFormat>Custom</PresentationFormat>
  <Paragraphs>39</Paragraphs>
  <Slides>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vt:i4>
      </vt:variant>
    </vt:vector>
  </HeadingPairs>
  <TitlesOfParts>
    <vt:vector size="10" baseType="lpstr">
      <vt:lpstr>Arial</vt:lpstr>
      <vt:lpstr>Calibri</vt:lpstr>
      <vt:lpstr>Calibri Light</vt:lpstr>
      <vt:lpstr>Helvetica Neue</vt:lpstr>
      <vt:lpstr>Helvetica Neue Light</vt:lpstr>
      <vt:lpstr>Office Theme</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Kelly Asche</dc:creator>
  <cp:lastModifiedBy>kasche@crpd.onmicrosoft.com</cp:lastModifiedBy>
  <cp:revision>253</cp:revision>
  <cp:lastPrinted>2020-04-10T18:11:11Z</cp:lastPrinted>
  <dcterms:created xsi:type="dcterms:W3CDTF">2018-01-25T21:03:45Z</dcterms:created>
  <dcterms:modified xsi:type="dcterms:W3CDTF">2020-11-24T17:00:13Z</dcterms:modified>
</cp:coreProperties>
</file>